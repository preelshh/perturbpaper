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embeddedFontLst>
    <p:embeddedFont>
      <p:font typeface="Roboto Mono"/>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Mithun Mitr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obotoMono-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obotoMono-italic.fntdata"/><Relationship Id="rId21" Type="http://schemas.openxmlformats.org/officeDocument/2006/relationships/slide" Target="slides/slide15.xml"/><Relationship Id="rId65" Type="http://schemas.openxmlformats.org/officeDocument/2006/relationships/font" Target="fonts/RobotoMono-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RobotoMono-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7T03:05:42.211">
    <p:pos x="6000" y="0"/>
    <p:text>Please add a title for every slide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7T03:07:14.232">
    <p:pos x="6000" y="0"/>
    <p:text>For this presentation, you can create sections for different analysis like a section for Pyscenic, a section for scPrint2, and put all the slides related to that section together and not scattered throughout. Thanks.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07T03:10:14.588">
    <p:pos x="6000" y="0"/>
    <p:text>For GNInfer, I think for the how parameter, choosing either most var geners across or within, leaves out many TFs that do not vary much. We need to think about this.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07T03:03:31.420">
    <p:pos x="6000" y="0"/>
    <p:text>How many total TFs (regulons) are detected via the pyScenic analysis? We need to select the maximum possible number of rest and act TFs that we possibly can using a reasonable cutoff? Only choosing top 20 is fine, but we need a strong justification of rejecting other TFs.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07T22:26:02.797">
    <p:pos x="6000" y="0"/>
    <p:text>I feel to formalize this cutoff point, you can include all the genes with delRSS &gt;0.05 (act) and delRSS&lt;-0.05 (rest). So basically, |delRSS| &gt; 0.05</p:text>
  </p:cm>
  <p:cm authorId="0" idx="6" dt="2026-04-08T17:12:12.092">
    <p:pos x="6000" y="100"/>
    <p:text>check mean and std of gaussian distribution. See the value for one std dev from the mean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qZJKTo1LV7LK4-p_1tQiFkZUvUhvoWn4#scrollTo=xfFkkHMxRmEq"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qZJKTo1LV7LK4-p_1tQiFkZUvUhvoWn4#scrollTo=xfFkkHMxRmEq"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qZJKTo1LV7LK4-p_1tQiFkZUvUhvoWn4#scrollTo=xfFkkHMxRmEq"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qZJKTo1LV7LK4-p_1tQiFkZUvUhvoWn4#scrollTo=xfFkkHMxRmEq"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qZJKTo1LV7LK4-p_1tQiFkZUvUhvoWn4#scrollTo=xfFkkHMxRmEq"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qZJKTo1LV7LK4-p_1tQiFkZUvUhvoWn4#scrollTo=xfFkkHMxRmEq"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qZJKTo1LV7LK4-p_1tQiFkZUvUhvoWn4#scrollTo=xfFkkHMxRmEq"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 Id="rId3" Type="http://schemas.openxmlformats.org/officeDocument/2006/relationships/hyperlink" Target="http://scenic.ne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enic.ne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different parts</a:t>
            </a:r>
            <a:endParaRPr/>
          </a:p>
          <a:p>
            <a:pPr indent="-298450" lvl="0" marL="457200" rtl="0" algn="l">
              <a:spcBef>
                <a:spcPts val="0"/>
              </a:spcBef>
              <a:spcAft>
                <a:spcPts val="0"/>
              </a:spcAft>
              <a:buSzPts val="1100"/>
              <a:buChar char="-"/>
            </a:pPr>
            <a:r>
              <a:rPr lang="en"/>
              <a:t>Use different perturbation </a:t>
            </a:r>
            <a:r>
              <a:rPr lang="en"/>
              <a:t>models</a:t>
            </a:r>
            <a:r>
              <a:rPr lang="en"/>
              <a:t> to perturb TFs and see what effect it has</a:t>
            </a:r>
            <a:endParaRPr/>
          </a:p>
          <a:p>
            <a:pPr indent="-298450" lvl="0" marL="457200" rtl="0" algn="l">
              <a:spcBef>
                <a:spcPts val="0"/>
              </a:spcBef>
              <a:spcAft>
                <a:spcPts val="0"/>
              </a:spcAft>
              <a:buSzPts val="1100"/>
              <a:buChar char="-"/>
            </a:pPr>
            <a:r>
              <a:rPr lang="en"/>
              <a:t>Compare to ground truth in perturb seq</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can we learn about T-Cell Quiescence</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0b8ad24e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0b8ad24e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0b63824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0b63824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0b8ad24e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0b8ad24e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https://colab.research.google.com/drive/1qZJKTo1LV7LK4-p_1tQiFkZUvUhvoWn4#scrollTo=xfFkkHMxRmEq</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0b8ad24e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0b8ad24e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https://colab.research.google.com/drive/1qZJKTo1LV7LK4-p_1tQiFkZUvUhvoWn4#scrollTo=xfFkkHMxRmEq</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r>
              <a:rPr lang="en"/>
              <a:t>scenic</a:t>
            </a:r>
            <a:r>
              <a:rPr lang="en"/>
              <a:t> you get regulons → target genes from ATF4</a:t>
            </a:r>
            <a:endParaRPr/>
          </a:p>
          <a:p>
            <a:pPr indent="0" lvl="0" marL="0" rtl="0" algn="l">
              <a:spcBef>
                <a:spcPts val="0"/>
              </a:spcBef>
              <a:spcAft>
                <a:spcPts val="0"/>
              </a:spcAft>
              <a:buNone/>
            </a:pPr>
            <a:r>
              <a:rPr lang="en"/>
              <a:t>## take those target genes and compare to ground truth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Cd8 weaker than cd4</a:t>
            </a:r>
            <a:endParaRPr/>
          </a:p>
          <a:p>
            <a:pPr indent="0" lvl="0" marL="0" rtl="0" algn="l">
              <a:spcBef>
                <a:spcPts val="0"/>
              </a:spcBef>
              <a:spcAft>
                <a:spcPts val="0"/>
              </a:spcAft>
              <a:buNone/>
            </a:pPr>
            <a:r>
              <a:rPr lang="en"/>
              <a:t>## way to compare?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0b8ad24e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0b8ad24e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https://colab.research.google.com/drive/1qZJKTo1LV7LK4-p_1tQiFkZUvUhvoWn4#scrollTo=xfFkkHMxRmEq</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0b8ad24e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0b8ad24e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https://colab.research.google.com/drive/1qZJKTo1LV7LK4-p_1tQiFkZUvUhvoWn4#scrollTo=xfFkkHMxRmEq</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IF MULTIPLE TFs OR ONE TF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QUESTION: Do we use GEARS and train on Perturb-SEQ data, or just use GEARS as it is (trained on normal-etl data, but its not cd4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summary table of how many (+),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0b8ad24e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0b8ad24e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https://colab.research.google.com/drive/1qZJKTo1LV7LK4-p_1tQiFkZUvUhvoWn4#scrollTo=xfFkkHMxRmEq</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0b8ad24e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0b8ad24e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https://colab.research.google.com/drive/1qZJKTo1LV7LK4-p_1tQiFkZUvUhvoWn4#scrollTo=xfFkkHMxRmEq</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0b8ad24e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0b8ad24e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https://colab.research.google.com/drive/1qZJKTo1LV7LK4-p_1tQiFkZUvUhvoWn4#scrollTo=xfFkkHMxRmEq</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0b8ad24e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0b8ad24e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bf02956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bf02956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bf029568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bf029568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50da3fb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50da3fb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59d76bf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59d76bf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59d76bf7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59d76bf7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59d76bf7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59d76bf7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59d76bf7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59d76bf7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59d76bf7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59d76bf7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59d76bf7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59d76bf7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59d76bf7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59d76bf7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59d76bf7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59d76bf7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59d76bf7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59d76bf7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59d76bf7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c59d76bf7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59d76bf7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59d76bf7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59d76bf7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c59d76bf7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59d76bf7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59d76bf7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59d76bf7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59d76bf7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4b8a33c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4b8a33c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4b8a33c4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d4b8a33c4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a:t>
            </a:r>
            <a:r>
              <a:rPr lang="en" u="sng">
                <a:solidFill>
                  <a:schemeClr val="hlink"/>
                </a:solidFill>
                <a:hlinkClick r:id="rId3"/>
              </a:rPr>
              <a:t>.net</a:t>
            </a:r>
            <a:endParaRPr/>
          </a:p>
          <a:p>
            <a:pPr indent="0" lvl="0" marL="0" rtl="0" algn="l">
              <a:spcBef>
                <a:spcPts val="0"/>
              </a:spcBef>
              <a:spcAft>
                <a:spcPts val="0"/>
              </a:spcAft>
              <a:buNone/>
            </a:pPr>
            <a:r>
              <a:rPr lang="en"/>
              <a:t>Columns</a:t>
            </a:r>
            <a:endParaRPr/>
          </a:p>
          <a:p>
            <a:pPr indent="0" lvl="0" marL="0" rtl="0" algn="l">
              <a:spcBef>
                <a:spcPts val="0"/>
              </a:spcBef>
              <a:spcAft>
                <a:spcPts val="0"/>
              </a:spcAft>
              <a:buNone/>
            </a:pPr>
            <a:r>
              <a:rPr lang="en"/>
              <a:t>L</a:t>
            </a:r>
            <a:endParaRPr/>
          </a:p>
          <a:p>
            <a:pPr indent="0" lvl="0" marL="0" rtl="0" algn="l">
              <a:spcBef>
                <a:spcPts val="0"/>
              </a:spcBef>
              <a:spcAft>
                <a:spcPts val="0"/>
              </a:spcAft>
              <a:buNone/>
            </a:pPr>
            <a:r>
              <a:rPr lang="en"/>
              <a:t>Source, target genes, delRSS (TF) [how active the tf is!!]</a:t>
            </a:r>
            <a:endParaRPr/>
          </a:p>
          <a:p>
            <a:pPr indent="0" lvl="0" marL="0" rtl="0" algn="l">
              <a:spcBef>
                <a:spcPts val="0"/>
              </a:spcBef>
              <a:spcAft>
                <a:spcPts val="0"/>
              </a:spcAft>
              <a:buNone/>
            </a:pPr>
            <a:r>
              <a:rPr lang="en"/>
              <a:t>Two networks </a:t>
            </a:r>
            <a:r>
              <a:rPr lang="en"/>
              <a:t>separately</a:t>
            </a:r>
            <a:r>
              <a:rPr lang="en"/>
              <a:t> for rest and act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59d76bf7e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c59d76bf7e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 how to choose cut off, choose more cleanly as potential TFs for pyscenic</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4e9a0382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4e9a0382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4e9a0382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4e9a0382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That's off-target contamination: your experiment thinks it's measuring "what happens when we knock down BATF3," but it's actually measuring "what happens when we knock down BATF3 AND accidentally also knock down some other gene we didn't mean to touch."</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4e9a0382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4e9a0382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That's off-target contamination: your experiment thinks it's measuring "what happens when we knock down BATF3," but it's actually measuring "what happens when we knock down BATF3 AND accidentally also knock down some other gene we didn't mean to touch."</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4b8a33c4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d4b8a33c4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df6be0de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ddf6be0de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Columns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58813cb6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d58813cb6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58813cb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d58813cb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58813cb6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d58813cb6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d58813cb6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d58813cb6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58813cb6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d58813cb6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58813cb6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d58813cb6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62d91fd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d62d91fd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d6399a52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d6399a52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scenic.net</a:t>
            </a:r>
            <a:endParaRPr>
              <a:solidFill>
                <a:schemeClr val="dk1"/>
              </a:solidFill>
            </a:endParaRPr>
          </a:p>
          <a:p>
            <a:pPr indent="0" lvl="0" marL="0" rtl="0" algn="l">
              <a:spcBef>
                <a:spcPts val="0"/>
              </a:spcBef>
              <a:spcAft>
                <a:spcPts val="0"/>
              </a:spcAft>
              <a:buNone/>
            </a:pPr>
            <a:r>
              <a:rPr lang="en">
                <a:solidFill>
                  <a:schemeClr val="dk1"/>
                </a:solidFill>
              </a:rPr>
              <a:t>Columns</a:t>
            </a:r>
            <a:endParaRPr>
              <a:solidFill>
                <a:schemeClr val="dk1"/>
              </a:solidFill>
            </a:endParaRPr>
          </a:p>
          <a:p>
            <a:pPr indent="0" lvl="0" marL="0" rtl="0" algn="l">
              <a:spcBef>
                <a:spcPts val="0"/>
              </a:spcBef>
              <a:spcAft>
                <a:spcPts val="0"/>
              </a:spcAft>
              <a:buNone/>
            </a:pPr>
            <a:r>
              <a:rPr lang="en">
                <a:solidFill>
                  <a:schemeClr val="dk1"/>
                </a:solidFill>
              </a:rPr>
              <a:t>L</a:t>
            </a:r>
            <a:endParaRPr>
              <a:solidFill>
                <a:schemeClr val="dk1"/>
              </a:solidFill>
            </a:endParaRPr>
          </a:p>
          <a:p>
            <a:pPr indent="0" lvl="0" marL="0" rtl="0" algn="l">
              <a:spcBef>
                <a:spcPts val="0"/>
              </a:spcBef>
              <a:spcAft>
                <a:spcPts val="0"/>
              </a:spcAft>
              <a:buNone/>
            </a:pPr>
            <a:r>
              <a:rPr lang="en">
                <a:solidFill>
                  <a:schemeClr val="dk1"/>
                </a:solidFill>
              </a:rPr>
              <a:t>Source, target genes, delRSS (TF) [how active the tf is!!]</a:t>
            </a:r>
            <a:endParaRPr>
              <a:solidFill>
                <a:schemeClr val="dk1"/>
              </a:solidFill>
            </a:endParaRPr>
          </a:p>
          <a:p>
            <a:pPr indent="0" lvl="0" marL="0" rtl="0" algn="l">
              <a:spcBef>
                <a:spcPts val="0"/>
              </a:spcBef>
              <a:spcAft>
                <a:spcPts val="0"/>
              </a:spcAft>
              <a:buNone/>
            </a:pPr>
            <a:r>
              <a:rPr lang="en">
                <a:solidFill>
                  <a:schemeClr val="dk1"/>
                </a:solidFill>
              </a:rPr>
              <a:t>Two networks separately for rest and act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86bf5a9a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d86bf5a9a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aa4dc69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aa4dc69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aa4dc695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daa4dc695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aa4dc695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daa4dc695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aa4dc695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daa4dc695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aa4dc695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daa4dc695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aa4dc695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aa4dc695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daa4dc695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daa4dc695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74fe610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e74fe610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e74fe610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e74fe610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e74fe610e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e74fe610e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e74fe610e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e74fe610e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74fe610e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e74fe610e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omments" Target="../comments/commen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comments" Target="../comments/comment4.xml"/><Relationship Id="rId4" Type="http://schemas.openxmlformats.org/officeDocument/2006/relationships/hyperlink" Target="https://drive.google.com/file/d/1kIW1iLnxctPrezle8vfpSNNxxJBQ7ONJ/view?usp=drive_link" TargetMode="External"/><Relationship Id="rId5" Type="http://schemas.openxmlformats.org/officeDocument/2006/relationships/hyperlink" Target="https://colab.research.google.com/drive/1qZJKTo1LV7LK4-p_1tQiFkZUvUhvoWn4"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5.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drive.google.com/drive/u/0/folders/18emDqcmGUVMRYGplFA3mdF9aPvq86tU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drive.google.com/drive/u/0/folders/1_lbvZF8fQHz-K_ig4RMcq-Mm1RCb1Aa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cole.et.a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Tracking Paper Progress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2" name="Google Shape;62;p14" title="Screenshot 2026-02-25 at 1.59.28 PM.png"/>
          <p:cNvPicPr preferRelativeResize="0"/>
          <p:nvPr/>
        </p:nvPicPr>
        <p:blipFill>
          <a:blip r:embed="rId4">
            <a:alphaModFix/>
          </a:blip>
          <a:stretch>
            <a:fillRect/>
          </a:stretch>
        </p:blipFill>
        <p:spPr>
          <a:xfrm>
            <a:off x="311700" y="429235"/>
            <a:ext cx="8520598" cy="428503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pySCENIC [With Pruning]</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Key file:  </a:t>
            </a:r>
            <a:r>
              <a:rPr b="1" lang="en"/>
              <a:t>pruned_rss_score_matrix_final.csv</a:t>
            </a:r>
            <a:endParaRPr b="1"/>
          </a:p>
          <a:p>
            <a:pPr indent="0" lvl="0" marL="0" rtl="0" algn="l">
              <a:spcBef>
                <a:spcPts val="1200"/>
              </a:spcBef>
              <a:spcAft>
                <a:spcPts val="0"/>
              </a:spcAft>
              <a:buNone/>
            </a:pPr>
            <a:r>
              <a:rPr b="1" lang="en"/>
              <a:t>RSS = Regulon Specificity Score</a:t>
            </a:r>
            <a:endParaRPr b="1"/>
          </a:p>
          <a:p>
            <a:pPr indent="0" lvl="0" marL="0" rtl="0" algn="l">
              <a:spcBef>
                <a:spcPts val="1200"/>
              </a:spcBef>
              <a:spcAft>
                <a:spcPts val="0"/>
              </a:spcAft>
              <a:buNone/>
            </a:pPr>
            <a:r>
              <a:rPr b="1" lang="en"/>
              <a:t>"How specific is this TF's regulatory program to this cell group?"</a:t>
            </a:r>
            <a:endParaRPr b="1"/>
          </a:p>
          <a:p>
            <a:pPr indent="0" lvl="0" marL="0" rtl="0" algn="l">
              <a:spcBef>
                <a:spcPts val="1200"/>
              </a:spcBef>
              <a:spcAft>
                <a:spcPts val="1200"/>
              </a:spcAft>
              <a:buNone/>
            </a:pPr>
            <a:r>
              <a:t/>
            </a:r>
            <a:endParaRPr b="1"/>
          </a:p>
        </p:txBody>
      </p:sp>
      <p:pic>
        <p:nvPicPr>
          <p:cNvPr id="69" name="Google Shape;69;p15" title="Screenshot 2026-02-25 at 12.08.08 PM.png"/>
          <p:cNvPicPr preferRelativeResize="0"/>
          <p:nvPr/>
        </p:nvPicPr>
        <p:blipFill>
          <a:blip r:embed="rId4">
            <a:alphaModFix/>
          </a:blip>
          <a:stretch>
            <a:fillRect/>
          </a:stretch>
        </p:blipFill>
        <p:spPr>
          <a:xfrm>
            <a:off x="201813" y="2718637"/>
            <a:ext cx="8740374" cy="2039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pySCENIC [With Pruning]</a:t>
            </a:r>
            <a:endParaRPr/>
          </a:p>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CD_4 Activation/Resting TFs</a:t>
            </a:r>
            <a:endParaRPr b="1"/>
          </a:p>
          <a:p>
            <a:pPr indent="0" lvl="0" marL="0" rtl="0" algn="l">
              <a:spcBef>
                <a:spcPts val="1200"/>
              </a:spcBef>
              <a:spcAft>
                <a:spcPts val="0"/>
              </a:spcAft>
              <a:buNone/>
            </a:pPr>
            <a:r>
              <a:rPr lang="en"/>
              <a:t>Calculated by CD4_Act - CD4_Rest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76" name="Google Shape;76;p16" title="Screenshot 2026-02-25 at 12.10.02 PM.png"/>
          <p:cNvPicPr preferRelativeResize="0"/>
          <p:nvPr/>
        </p:nvPicPr>
        <p:blipFill>
          <a:blip r:embed="rId3">
            <a:alphaModFix/>
          </a:blip>
          <a:stretch>
            <a:fillRect/>
          </a:stretch>
        </p:blipFill>
        <p:spPr>
          <a:xfrm>
            <a:off x="1966575" y="2177493"/>
            <a:ext cx="1935575" cy="2703669"/>
          </a:xfrm>
          <a:prstGeom prst="rect">
            <a:avLst/>
          </a:prstGeom>
          <a:noFill/>
          <a:ln>
            <a:noFill/>
          </a:ln>
        </p:spPr>
      </p:pic>
      <p:pic>
        <p:nvPicPr>
          <p:cNvPr id="77" name="Google Shape;77;p16" title="Screenshot 2026-02-25 at 12.10.14 PM.png"/>
          <p:cNvPicPr preferRelativeResize="0"/>
          <p:nvPr/>
        </p:nvPicPr>
        <p:blipFill>
          <a:blip r:embed="rId4">
            <a:alphaModFix/>
          </a:blip>
          <a:stretch>
            <a:fillRect/>
          </a:stretch>
        </p:blipFill>
        <p:spPr>
          <a:xfrm>
            <a:off x="4572000" y="2177500"/>
            <a:ext cx="1935575" cy="2703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pySCENIC [With Pruning]</a:t>
            </a:r>
            <a:endParaRPr/>
          </a:p>
          <a:p>
            <a:pPr indent="0" lvl="0" marL="0" rtl="0" algn="l">
              <a:spcBef>
                <a:spcPts val="0"/>
              </a:spcBef>
              <a:spcAft>
                <a:spcPts val="0"/>
              </a:spcAft>
              <a:buNone/>
            </a:pPr>
            <a:r>
              <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CD_8 Activation/Resting TFs</a:t>
            </a:r>
            <a:endParaRPr b="1"/>
          </a:p>
          <a:p>
            <a:pPr indent="0" lvl="0" marL="0" rtl="0" algn="l">
              <a:spcBef>
                <a:spcPts val="1200"/>
              </a:spcBef>
              <a:spcAft>
                <a:spcPts val="0"/>
              </a:spcAft>
              <a:buNone/>
            </a:pPr>
            <a:r>
              <a:rPr lang="en"/>
              <a:t>Calculated by CD8_Act - CD8_Rest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84" name="Google Shape;84;p17" title="Screenshot 2026-02-25 at 12.14.08 PM.png"/>
          <p:cNvPicPr preferRelativeResize="0"/>
          <p:nvPr/>
        </p:nvPicPr>
        <p:blipFill>
          <a:blip r:embed="rId3">
            <a:alphaModFix/>
          </a:blip>
          <a:stretch>
            <a:fillRect/>
          </a:stretch>
        </p:blipFill>
        <p:spPr>
          <a:xfrm>
            <a:off x="4572000" y="2065450"/>
            <a:ext cx="1625925" cy="2896901"/>
          </a:xfrm>
          <a:prstGeom prst="rect">
            <a:avLst/>
          </a:prstGeom>
          <a:noFill/>
          <a:ln>
            <a:noFill/>
          </a:ln>
        </p:spPr>
      </p:pic>
      <p:pic>
        <p:nvPicPr>
          <p:cNvPr id="85" name="Google Shape;85;p17" title="Screenshot 2026-02-25 at 12.14.27 PM.png"/>
          <p:cNvPicPr preferRelativeResize="0"/>
          <p:nvPr/>
        </p:nvPicPr>
        <p:blipFill>
          <a:blip r:embed="rId4">
            <a:alphaModFix/>
          </a:blip>
          <a:stretch>
            <a:fillRect/>
          </a:stretch>
        </p:blipFill>
        <p:spPr>
          <a:xfrm>
            <a:off x="2618550" y="2065450"/>
            <a:ext cx="1644100" cy="2929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Perturb-seq</a:t>
            </a:r>
            <a:r>
              <a:rPr lang="en"/>
              <a:t>: Ground Truth?</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Dataset Overview:</a:t>
            </a:r>
            <a:endParaRPr b="1" u="sng"/>
          </a:p>
          <a:p>
            <a:pPr indent="0" lvl="0" marL="0" rtl="0" algn="l">
              <a:spcBef>
                <a:spcPts val="1200"/>
              </a:spcBef>
              <a:spcAft>
                <a:spcPts val="0"/>
              </a:spcAft>
              <a:buNone/>
            </a:pPr>
            <a:r>
              <a:rPr lang="en"/>
              <a:t>Perturb-seq Data: 33,983 rows x 10,282 genes</a:t>
            </a:r>
            <a:endParaRPr/>
          </a:p>
          <a:p>
            <a:pPr indent="0" lvl="0" marL="0" rtl="0" algn="l">
              <a:spcBef>
                <a:spcPts val="1200"/>
              </a:spcBef>
              <a:spcAft>
                <a:spcPts val="0"/>
              </a:spcAft>
              <a:buNone/>
            </a:pPr>
            <a:r>
              <a:rPr lang="en"/>
              <a:t>Our data: 47,726 cells × 58,828 genes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Perturb-seq: Ground Truth? </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u="sng"/>
              <a:t>What genes match?</a:t>
            </a:r>
            <a:r>
              <a:rPr b="1" lang="en" u="sng"/>
              <a:t>:</a:t>
            </a:r>
            <a:endParaRPr b="1" u="sng"/>
          </a:p>
          <a:p>
            <a:pPr indent="0" lvl="0" marL="0" rtl="0" algn="l">
              <a:spcBef>
                <a:spcPts val="1200"/>
              </a:spcBef>
              <a:spcAft>
                <a:spcPts val="0"/>
              </a:spcAft>
              <a:buNone/>
            </a:pPr>
            <a:r>
              <a:rPr lang="en"/>
              <a:t>95% of PS genes are in Q</a:t>
            </a:r>
            <a:endParaRPr/>
          </a:p>
          <a:p>
            <a:pPr indent="0" lvl="0" marL="0" rtl="0" algn="l">
              <a:spcBef>
                <a:spcPts val="1200"/>
              </a:spcBef>
              <a:spcAft>
                <a:spcPts val="0"/>
              </a:spcAft>
              <a:buNone/>
            </a:pPr>
            <a:r>
              <a:rPr lang="en"/>
              <a:t>16.6% of Q genes are in PS</a:t>
            </a:r>
            <a:endParaRPr/>
          </a:p>
          <a:p>
            <a:pPr indent="0" lvl="0" marL="0" rtl="0" algn="l">
              <a:spcBef>
                <a:spcPts val="1200"/>
              </a:spcBef>
              <a:spcAft>
                <a:spcPts val="0"/>
              </a:spcAft>
              <a:buNone/>
            </a:pPr>
            <a:r>
              <a:rPr lang="en"/>
              <a:t>Q = our dataset genes</a:t>
            </a:r>
            <a:endParaRPr/>
          </a:p>
          <a:p>
            <a:pPr indent="0" lvl="0" marL="0" rtl="0" algn="l">
              <a:spcBef>
                <a:spcPts val="1200"/>
              </a:spcBef>
              <a:spcAft>
                <a:spcPts val="0"/>
              </a:spcAft>
              <a:buNone/>
            </a:pPr>
            <a:r>
              <a:rPr lang="en"/>
              <a:t>PS = perturb-seq genes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98" name="Google Shape;98;p19" title="Screenshot 2026-02-25 at 1.22.10 PM.png"/>
          <p:cNvPicPr preferRelativeResize="0"/>
          <p:nvPr/>
        </p:nvPicPr>
        <p:blipFill>
          <a:blip r:embed="rId3">
            <a:alphaModFix/>
          </a:blip>
          <a:stretch>
            <a:fillRect/>
          </a:stretch>
        </p:blipFill>
        <p:spPr>
          <a:xfrm>
            <a:off x="3709550" y="1289100"/>
            <a:ext cx="4950075" cy="2750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Perturb-seq: Ground Truth?</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What genes match?:</a:t>
            </a:r>
            <a:endParaRPr b="1" u="sng"/>
          </a:p>
          <a:p>
            <a:pPr indent="0" lvl="0" marL="0" rtl="0" algn="l">
              <a:spcBef>
                <a:spcPts val="1200"/>
              </a:spcBef>
              <a:spcAft>
                <a:spcPts val="0"/>
              </a:spcAft>
              <a:buNone/>
            </a:pPr>
            <a:r>
              <a:rPr lang="en"/>
              <a:t>95% of PS genes are in Q</a:t>
            </a:r>
            <a:endParaRPr/>
          </a:p>
          <a:p>
            <a:pPr indent="0" lvl="0" marL="0" rtl="0" algn="l">
              <a:spcBef>
                <a:spcPts val="1200"/>
              </a:spcBef>
              <a:spcAft>
                <a:spcPts val="0"/>
              </a:spcAft>
              <a:buNone/>
            </a:pPr>
            <a:r>
              <a:rPr lang="en"/>
              <a:t>16.6% of Q genes are in PS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05" name="Google Shape;105;p20" title="Screenshot 2026-02-25 at 1.22.10 PM.png"/>
          <p:cNvPicPr preferRelativeResize="0"/>
          <p:nvPr/>
        </p:nvPicPr>
        <p:blipFill>
          <a:blip r:embed="rId3">
            <a:alphaModFix/>
          </a:blip>
          <a:stretch>
            <a:fillRect/>
          </a:stretch>
        </p:blipFill>
        <p:spPr>
          <a:xfrm>
            <a:off x="3709550" y="1289100"/>
            <a:ext cx="4950075" cy="2750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Perturb-seq: Ground Truth?</a:t>
            </a:r>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b="1" lang="en" sz="1455" u="sng"/>
              <a:t>What columns in psdata.obs contains the perturbed gene name (TF)?</a:t>
            </a:r>
            <a:endParaRPr b="1" sz="1455" u="sng"/>
          </a:p>
          <a:p>
            <a:pPr indent="0" lvl="0" marL="0" rtl="0" algn="l">
              <a:lnSpc>
                <a:spcPct val="105000"/>
              </a:lnSpc>
              <a:spcBef>
                <a:spcPts val="1200"/>
              </a:spcBef>
              <a:spcAft>
                <a:spcPts val="0"/>
              </a:spcAft>
              <a:buSzPts val="523"/>
              <a:buNone/>
            </a:pPr>
            <a:r>
              <a:rPr lang="en" sz="1455"/>
              <a:t>17,818 perturbation entries target genes that ACTUALLY exist in our quiescence dataset</a:t>
            </a:r>
            <a:endParaRPr sz="1455"/>
          </a:p>
          <a:p>
            <a:pPr indent="0" lvl="0" marL="0" rtl="0" algn="l">
              <a:lnSpc>
                <a:spcPct val="105000"/>
              </a:lnSpc>
              <a:spcBef>
                <a:spcPts val="1200"/>
              </a:spcBef>
              <a:spcAft>
                <a:spcPts val="0"/>
              </a:spcAft>
              <a:buSzPts val="523"/>
              <a:buNone/>
            </a:pPr>
            <a:r>
              <a:rPr lang="en" sz="1455"/>
              <a:t>6,832 distinct perturbed genes were significant, not off-target, and </a:t>
            </a:r>
            <a:r>
              <a:rPr b="1" lang="en" sz="1455"/>
              <a:t>exist in our dataset</a:t>
            </a:r>
            <a:endParaRPr b="1" sz="1455"/>
          </a:p>
          <a:p>
            <a:pPr indent="0" lvl="0" marL="0" rtl="0" algn="l">
              <a:lnSpc>
                <a:spcPct val="105000"/>
              </a:lnSpc>
              <a:spcBef>
                <a:spcPts val="1200"/>
              </a:spcBef>
              <a:spcAft>
                <a:spcPts val="0"/>
              </a:spcAft>
              <a:buSzPts val="523"/>
              <a:buNone/>
            </a:pPr>
            <a:r>
              <a:rPr b="1" lang="en" sz="1455" u="sng"/>
              <a:t>IMPORTANT: </a:t>
            </a:r>
            <a:r>
              <a:rPr lang="en" sz="1455"/>
              <a:t>not all 6,832 genes are “TFs”</a:t>
            </a:r>
            <a:endParaRPr sz="1455"/>
          </a:p>
          <a:p>
            <a:pPr indent="0" lvl="0" marL="0" rtl="0" algn="l">
              <a:lnSpc>
                <a:spcPct val="105000"/>
              </a:lnSpc>
              <a:spcBef>
                <a:spcPts val="1200"/>
              </a:spcBef>
              <a:spcAft>
                <a:spcPts val="0"/>
              </a:spcAft>
              <a:buSzPts val="523"/>
              <a:buNone/>
            </a:pPr>
            <a:r>
              <a:rPr lang="en" sz="1455"/>
              <a:t>With this we can:</a:t>
            </a:r>
            <a:endParaRPr sz="1455"/>
          </a:p>
          <a:p>
            <a:pPr indent="-320993" lvl="0" marL="457200" rtl="0" algn="l">
              <a:lnSpc>
                <a:spcPct val="105000"/>
              </a:lnSpc>
              <a:spcBef>
                <a:spcPts val="1200"/>
              </a:spcBef>
              <a:spcAft>
                <a:spcPts val="0"/>
              </a:spcAft>
              <a:buSzPts val="1455"/>
              <a:buAutoNum type="arabicPeriod"/>
            </a:pPr>
            <a:r>
              <a:rPr lang="en" sz="1455"/>
              <a:t>Pick top TFs per condition</a:t>
            </a:r>
            <a:endParaRPr sz="1455"/>
          </a:p>
          <a:p>
            <a:pPr indent="-320993" lvl="0" marL="457200" rtl="0" algn="l">
              <a:lnSpc>
                <a:spcPct val="105000"/>
              </a:lnSpc>
              <a:spcBef>
                <a:spcPts val="0"/>
              </a:spcBef>
              <a:spcAft>
                <a:spcPts val="0"/>
              </a:spcAft>
              <a:buSzPts val="1455"/>
              <a:buAutoNum type="arabicPeriod"/>
            </a:pPr>
            <a:r>
              <a:rPr lang="en" sz="1455"/>
              <a:t>Compare model predictions under simulated perturbation</a:t>
            </a:r>
            <a:endParaRPr sz="1455"/>
          </a:p>
          <a:p>
            <a:pPr indent="-320993" lvl="0" marL="457200" rtl="0" algn="l">
              <a:lnSpc>
                <a:spcPct val="105000"/>
              </a:lnSpc>
              <a:spcBef>
                <a:spcPts val="0"/>
              </a:spcBef>
              <a:spcAft>
                <a:spcPts val="0"/>
              </a:spcAft>
              <a:buSzPts val="1455"/>
              <a:buAutoNum type="arabicPeriod"/>
            </a:pPr>
            <a:r>
              <a:rPr lang="en" sz="1455"/>
              <a:t>Benchmark:</a:t>
            </a:r>
            <a:endParaRPr sz="1455"/>
          </a:p>
          <a:p>
            <a:pPr indent="-308928" lvl="1" marL="914400" rtl="0" algn="l">
              <a:lnSpc>
                <a:spcPct val="105000"/>
              </a:lnSpc>
              <a:spcBef>
                <a:spcPts val="0"/>
              </a:spcBef>
              <a:spcAft>
                <a:spcPts val="0"/>
              </a:spcAft>
              <a:buSzPts val="1265"/>
              <a:buAutoNum type="alphaLcPeriod"/>
            </a:pPr>
            <a:r>
              <a:rPr lang="en" sz="1265"/>
              <a:t>Linear models</a:t>
            </a:r>
            <a:endParaRPr sz="1265"/>
          </a:p>
          <a:p>
            <a:pPr indent="-308928" lvl="1" marL="914400" rtl="0" algn="l">
              <a:lnSpc>
                <a:spcPct val="105000"/>
              </a:lnSpc>
              <a:spcBef>
                <a:spcPts val="0"/>
              </a:spcBef>
              <a:spcAft>
                <a:spcPts val="0"/>
              </a:spcAft>
              <a:buSzPts val="1265"/>
              <a:buAutoNum type="alphaLcPeriod"/>
            </a:pPr>
            <a:r>
              <a:rPr lang="en" sz="1265"/>
              <a:t>Foundation models</a:t>
            </a:r>
            <a:endParaRPr sz="1265"/>
          </a:p>
          <a:p>
            <a:pPr indent="0" lvl="0" marL="0" rtl="0" algn="l">
              <a:lnSpc>
                <a:spcPct val="105000"/>
              </a:lnSpc>
              <a:spcBef>
                <a:spcPts val="1200"/>
              </a:spcBef>
              <a:spcAft>
                <a:spcPts val="0"/>
              </a:spcAft>
              <a:buSzPts val="523"/>
              <a:buNone/>
            </a:pPr>
            <a:r>
              <a:t/>
            </a:r>
            <a:endParaRPr sz="1455"/>
          </a:p>
          <a:p>
            <a:pPr indent="0" lvl="0" marL="0" rtl="0" algn="l">
              <a:lnSpc>
                <a:spcPct val="105000"/>
              </a:lnSpc>
              <a:spcBef>
                <a:spcPts val="1200"/>
              </a:spcBef>
              <a:spcAft>
                <a:spcPts val="0"/>
              </a:spcAft>
              <a:buSzPts val="523"/>
              <a:buNone/>
            </a:pPr>
            <a:r>
              <a:t/>
            </a:r>
            <a:endParaRPr sz="1455"/>
          </a:p>
          <a:p>
            <a:pPr indent="0" lvl="0" marL="0" rtl="0" algn="l">
              <a:lnSpc>
                <a:spcPct val="105000"/>
              </a:lnSpc>
              <a:spcBef>
                <a:spcPts val="1200"/>
              </a:spcBef>
              <a:spcAft>
                <a:spcPts val="0"/>
              </a:spcAft>
              <a:buSzPts val="523"/>
              <a:buNone/>
            </a:pPr>
            <a:r>
              <a:t/>
            </a:r>
            <a:endParaRPr sz="1455"/>
          </a:p>
          <a:p>
            <a:pPr indent="0" lvl="0" marL="0" rtl="0" algn="l">
              <a:lnSpc>
                <a:spcPct val="105000"/>
              </a:lnSpc>
              <a:spcBef>
                <a:spcPts val="1200"/>
              </a:spcBef>
              <a:spcAft>
                <a:spcPts val="1200"/>
              </a:spcAft>
              <a:buSzPts val="523"/>
              <a:buNone/>
            </a:pPr>
            <a:r>
              <a:t/>
            </a:r>
            <a:endParaRPr sz="145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Perturb-seq: Ground Truth?</a:t>
            </a:r>
            <a:endParaRPr/>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b="1" lang="en" sz="1455" u="sng"/>
              <a:t>What columns in psdata.obs contains the perturbed gene name (TF)?</a:t>
            </a:r>
            <a:endParaRPr b="1" sz="1455" u="sng"/>
          </a:p>
          <a:p>
            <a:pPr indent="0" lvl="0" marL="0" rtl="0" algn="l">
              <a:lnSpc>
                <a:spcPct val="105000"/>
              </a:lnSpc>
              <a:spcBef>
                <a:spcPts val="1200"/>
              </a:spcBef>
              <a:spcAft>
                <a:spcPts val="0"/>
              </a:spcAft>
              <a:buSzPts val="523"/>
              <a:buNone/>
            </a:pPr>
            <a:r>
              <a:rPr lang="en" sz="1455"/>
              <a:t>17,818 perturbation entries target genes that ACTUALLY exist in our quiescence dataset</a:t>
            </a:r>
            <a:endParaRPr sz="1455"/>
          </a:p>
          <a:p>
            <a:pPr indent="0" lvl="0" marL="0" rtl="0" algn="l">
              <a:lnSpc>
                <a:spcPct val="105000"/>
              </a:lnSpc>
              <a:spcBef>
                <a:spcPts val="1200"/>
              </a:spcBef>
              <a:spcAft>
                <a:spcPts val="0"/>
              </a:spcAft>
              <a:buSzPts val="523"/>
              <a:buNone/>
            </a:pPr>
            <a:r>
              <a:rPr lang="en" sz="1455"/>
              <a:t>6,832 distinct perturbed genes were significant, not off-target, and </a:t>
            </a:r>
            <a:r>
              <a:rPr b="1" lang="en" sz="1455"/>
              <a:t>exist in our dataset</a:t>
            </a:r>
            <a:endParaRPr b="1" sz="1455"/>
          </a:p>
          <a:p>
            <a:pPr indent="0" lvl="0" marL="0" rtl="0" algn="l">
              <a:lnSpc>
                <a:spcPct val="105000"/>
              </a:lnSpc>
              <a:spcBef>
                <a:spcPts val="1200"/>
              </a:spcBef>
              <a:spcAft>
                <a:spcPts val="0"/>
              </a:spcAft>
              <a:buSzPts val="523"/>
              <a:buNone/>
            </a:pPr>
            <a:r>
              <a:rPr b="1" lang="en" sz="1455" u="sng"/>
              <a:t>IMPORTANT: </a:t>
            </a:r>
            <a:r>
              <a:rPr lang="en" sz="1455"/>
              <a:t>not all 6,832 genes are “TFs”</a:t>
            </a:r>
            <a:endParaRPr sz="1455"/>
          </a:p>
          <a:p>
            <a:pPr indent="0" lvl="0" marL="0" rtl="0" algn="l">
              <a:lnSpc>
                <a:spcPct val="105000"/>
              </a:lnSpc>
              <a:spcBef>
                <a:spcPts val="1200"/>
              </a:spcBef>
              <a:spcAft>
                <a:spcPts val="0"/>
              </a:spcAft>
              <a:buSzPts val="523"/>
              <a:buNone/>
            </a:pPr>
            <a:r>
              <a:rPr lang="en" sz="1455"/>
              <a:t>With this we can:</a:t>
            </a:r>
            <a:endParaRPr sz="1455"/>
          </a:p>
          <a:p>
            <a:pPr indent="-320993" lvl="0" marL="457200" rtl="0" algn="l">
              <a:lnSpc>
                <a:spcPct val="105000"/>
              </a:lnSpc>
              <a:spcBef>
                <a:spcPts val="1200"/>
              </a:spcBef>
              <a:spcAft>
                <a:spcPts val="0"/>
              </a:spcAft>
              <a:buSzPts val="1455"/>
              <a:buAutoNum type="arabicPeriod"/>
            </a:pPr>
            <a:r>
              <a:rPr lang="en" sz="1455"/>
              <a:t>Pick top TFs per condition</a:t>
            </a:r>
            <a:endParaRPr sz="1455"/>
          </a:p>
          <a:p>
            <a:pPr indent="-320993" lvl="0" marL="457200" rtl="0" algn="l">
              <a:lnSpc>
                <a:spcPct val="105000"/>
              </a:lnSpc>
              <a:spcBef>
                <a:spcPts val="0"/>
              </a:spcBef>
              <a:spcAft>
                <a:spcPts val="0"/>
              </a:spcAft>
              <a:buSzPts val="1455"/>
              <a:buAutoNum type="arabicPeriod"/>
            </a:pPr>
            <a:r>
              <a:rPr lang="en" sz="1455"/>
              <a:t>Compare model predictions under simulated perturbation</a:t>
            </a:r>
            <a:endParaRPr sz="1455"/>
          </a:p>
          <a:p>
            <a:pPr indent="-320993" lvl="0" marL="457200" rtl="0" algn="l">
              <a:lnSpc>
                <a:spcPct val="105000"/>
              </a:lnSpc>
              <a:spcBef>
                <a:spcPts val="0"/>
              </a:spcBef>
              <a:spcAft>
                <a:spcPts val="0"/>
              </a:spcAft>
              <a:buSzPts val="1455"/>
              <a:buAutoNum type="arabicPeriod"/>
            </a:pPr>
            <a:r>
              <a:rPr lang="en" sz="1455"/>
              <a:t>Benchmark:</a:t>
            </a:r>
            <a:endParaRPr sz="1455"/>
          </a:p>
          <a:p>
            <a:pPr indent="-308928" lvl="1" marL="914400" rtl="0" algn="l">
              <a:lnSpc>
                <a:spcPct val="105000"/>
              </a:lnSpc>
              <a:spcBef>
                <a:spcPts val="0"/>
              </a:spcBef>
              <a:spcAft>
                <a:spcPts val="0"/>
              </a:spcAft>
              <a:buSzPts val="1265"/>
              <a:buAutoNum type="alphaLcPeriod"/>
            </a:pPr>
            <a:r>
              <a:rPr lang="en" sz="1265"/>
              <a:t>Linear models</a:t>
            </a:r>
            <a:endParaRPr sz="1265"/>
          </a:p>
          <a:p>
            <a:pPr indent="-308928" lvl="1" marL="914400" rtl="0" algn="l">
              <a:lnSpc>
                <a:spcPct val="105000"/>
              </a:lnSpc>
              <a:spcBef>
                <a:spcPts val="0"/>
              </a:spcBef>
              <a:spcAft>
                <a:spcPts val="0"/>
              </a:spcAft>
              <a:buSzPts val="1265"/>
              <a:buAutoNum type="alphaLcPeriod"/>
            </a:pPr>
            <a:r>
              <a:rPr lang="en" sz="1265"/>
              <a:t>Foundation models</a:t>
            </a:r>
            <a:endParaRPr sz="1265"/>
          </a:p>
          <a:p>
            <a:pPr indent="0" lvl="0" marL="0" rtl="0" algn="l">
              <a:lnSpc>
                <a:spcPct val="105000"/>
              </a:lnSpc>
              <a:spcBef>
                <a:spcPts val="1200"/>
              </a:spcBef>
              <a:spcAft>
                <a:spcPts val="0"/>
              </a:spcAft>
              <a:buSzPts val="523"/>
              <a:buNone/>
            </a:pPr>
            <a:r>
              <a:t/>
            </a:r>
            <a:endParaRPr sz="1455"/>
          </a:p>
          <a:p>
            <a:pPr indent="0" lvl="0" marL="0" rtl="0" algn="l">
              <a:lnSpc>
                <a:spcPct val="105000"/>
              </a:lnSpc>
              <a:spcBef>
                <a:spcPts val="1200"/>
              </a:spcBef>
              <a:spcAft>
                <a:spcPts val="0"/>
              </a:spcAft>
              <a:buSzPts val="523"/>
              <a:buNone/>
            </a:pPr>
            <a:r>
              <a:t/>
            </a:r>
            <a:endParaRPr sz="1455"/>
          </a:p>
          <a:p>
            <a:pPr indent="0" lvl="0" marL="0" rtl="0" algn="l">
              <a:lnSpc>
                <a:spcPct val="105000"/>
              </a:lnSpc>
              <a:spcBef>
                <a:spcPts val="1200"/>
              </a:spcBef>
              <a:spcAft>
                <a:spcPts val="0"/>
              </a:spcAft>
              <a:buSzPts val="523"/>
              <a:buNone/>
            </a:pPr>
            <a:r>
              <a:t/>
            </a:r>
            <a:endParaRPr sz="1455"/>
          </a:p>
          <a:p>
            <a:pPr indent="0" lvl="0" marL="0" rtl="0" algn="l">
              <a:lnSpc>
                <a:spcPct val="105000"/>
              </a:lnSpc>
              <a:spcBef>
                <a:spcPts val="1200"/>
              </a:spcBef>
              <a:spcAft>
                <a:spcPts val="1200"/>
              </a:spcAft>
              <a:buSzPts val="523"/>
              <a:buNone/>
            </a:pPr>
            <a:r>
              <a:t/>
            </a:r>
            <a:endParaRPr sz="145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Feb 25</a:t>
            </a:r>
            <a:endParaRPr/>
          </a:p>
        </p:txBody>
      </p:sp>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Ask </a:t>
            </a:r>
            <a:r>
              <a:rPr lang="en"/>
              <a:t>scprint</a:t>
            </a:r>
            <a:r>
              <a:rPr lang="en"/>
              <a:t> if they can do </a:t>
            </a:r>
            <a:r>
              <a:rPr lang="en"/>
              <a:t>perturbation</a:t>
            </a:r>
            <a:endParaRPr/>
          </a:p>
          <a:p>
            <a:pPr indent="-342900" lvl="0" marL="457200" rtl="0" algn="l">
              <a:spcBef>
                <a:spcPts val="0"/>
              </a:spcBef>
              <a:spcAft>
                <a:spcPts val="0"/>
              </a:spcAft>
              <a:buSzPts val="1800"/>
              <a:buChar char="-"/>
            </a:pPr>
            <a:r>
              <a:rPr lang="en"/>
              <a:t>Test the </a:t>
            </a:r>
            <a:r>
              <a:rPr lang="en"/>
              <a:t>scprint</a:t>
            </a:r>
            <a:r>
              <a:rPr lang="en"/>
              <a:t> code + contact him</a:t>
            </a:r>
            <a:endParaRPr/>
          </a:p>
          <a:p>
            <a:pPr indent="-342900" lvl="0" marL="457200" rtl="0" algn="l">
              <a:spcBef>
                <a:spcPts val="0"/>
              </a:spcBef>
              <a:spcAft>
                <a:spcPts val="0"/>
              </a:spcAft>
              <a:buSzPts val="1800"/>
              <a:buChar char="-"/>
            </a:pPr>
            <a:r>
              <a:rPr lang="en"/>
              <a:t>Test gears vs perturb seq x</a:t>
            </a:r>
            <a:endParaRPr/>
          </a:p>
          <a:p>
            <a:pPr indent="-342900" lvl="0" marL="457200" rtl="0" algn="l">
              <a:spcBef>
                <a:spcPts val="0"/>
              </a:spcBef>
              <a:spcAft>
                <a:spcPts val="0"/>
              </a:spcAft>
              <a:buSzPts val="1800"/>
              <a:buChar char="-"/>
            </a:pPr>
            <a:r>
              <a:rPr lang="en"/>
              <a:t>Make graph here of TFs we have x</a:t>
            </a:r>
            <a:endParaRPr/>
          </a:p>
          <a:p>
            <a:pPr indent="-342900" lvl="0" marL="457200" rtl="0" algn="l">
              <a:spcBef>
                <a:spcPts val="0"/>
              </a:spcBef>
              <a:spcAft>
                <a:spcPts val="0"/>
              </a:spcAft>
              <a:buSzPts val="1800"/>
              <a:buChar char="-"/>
            </a:pPr>
            <a:r>
              <a:rPr lang="en"/>
              <a:t>Think of </a:t>
            </a:r>
            <a:r>
              <a:rPr lang="en"/>
              <a:t>methodology</a:t>
            </a:r>
            <a:r>
              <a:rPr lang="en"/>
              <a:t> to perturb + test</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Intersection of TF’s in Perturb-Seq and Our Data</a:t>
            </a:r>
            <a:endParaRPr/>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0" name="Google Shape;130;p24" title="Screenshot 2026-02-28 at 7.01.59 PM.png"/>
          <p:cNvPicPr preferRelativeResize="0"/>
          <p:nvPr/>
        </p:nvPicPr>
        <p:blipFill>
          <a:blip r:embed="rId3">
            <a:alphaModFix/>
          </a:blip>
          <a:stretch>
            <a:fillRect/>
          </a:stretch>
        </p:blipFill>
        <p:spPr>
          <a:xfrm>
            <a:off x="101600" y="1819550"/>
            <a:ext cx="9096375" cy="1825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GEARS versus Perturb-Seq</a:t>
            </a:r>
            <a:endParaRPr/>
          </a:p>
        </p:txBody>
      </p:sp>
      <p:sp>
        <p:nvSpPr>
          <p:cNvPr id="136" name="Google Shape;13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GEARS is a deep learning model that </a:t>
            </a:r>
            <a:r>
              <a:rPr i="1" lang="en"/>
              <a:t>predicts</a:t>
            </a:r>
            <a:r>
              <a:rPr lang="en"/>
              <a:t> post-perturbation.</a:t>
            </a:r>
            <a:endParaRPr/>
          </a:p>
          <a:p>
            <a:pPr indent="-342900" lvl="0" marL="457200" rtl="0" algn="l">
              <a:spcBef>
                <a:spcPts val="1200"/>
              </a:spcBef>
              <a:spcAft>
                <a:spcPts val="0"/>
              </a:spcAft>
              <a:buSzPts val="1800"/>
              <a:buChar char="-"/>
            </a:pPr>
            <a:r>
              <a:rPr lang="en"/>
              <a:t>It takes unperturbed gene </a:t>
            </a:r>
            <a:r>
              <a:rPr lang="en"/>
              <a:t>expression</a:t>
            </a:r>
            <a:r>
              <a:rPr lang="en"/>
              <a:t> + a perturbation set as input and outputs predicted post</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u="sng">
                <a:highlight>
                  <a:srgbClr val="D9EAD3"/>
                </a:highlight>
              </a:rPr>
              <a:t>Marson 2025 genome-scale Perturb-seq dataset (CZI)</a:t>
            </a:r>
            <a:endParaRPr b="1" u="sng">
              <a:highlight>
                <a:srgbClr val="D9EAD3"/>
              </a:highlight>
            </a:endParaRPr>
          </a:p>
          <a:p>
            <a:pPr indent="-342900" lvl="0" marL="457200" rtl="0" algn="l">
              <a:spcBef>
                <a:spcPts val="1200"/>
              </a:spcBef>
              <a:spcAft>
                <a:spcPts val="0"/>
              </a:spcAft>
              <a:buSzPts val="1800"/>
              <a:buChar char="-"/>
            </a:pPr>
            <a:r>
              <a:rPr lang="en"/>
              <a:t>Pure wet lab experimental data</a:t>
            </a:r>
            <a:endParaRPr/>
          </a:p>
          <a:p>
            <a:pPr indent="-342900" lvl="0" marL="457200" rtl="0" algn="l">
              <a:spcBef>
                <a:spcPts val="0"/>
              </a:spcBef>
              <a:spcAft>
                <a:spcPts val="0"/>
              </a:spcAft>
              <a:buSzPts val="1800"/>
              <a:buChar char="-"/>
            </a:pPr>
            <a:r>
              <a:rPr lang="en"/>
              <a:t>Primary human CD4+ T cells drawn from 4 real blood donors</a:t>
            </a:r>
            <a:endParaRPr/>
          </a:p>
          <a:p>
            <a:pPr indent="-342900" lvl="0" marL="457200" rtl="0" algn="l">
              <a:spcBef>
                <a:spcPts val="0"/>
              </a:spcBef>
              <a:spcAft>
                <a:spcPts val="0"/>
              </a:spcAft>
              <a:buSzPts val="1800"/>
              <a:buChar char="-"/>
            </a:pPr>
            <a:r>
              <a:t/>
            </a:r>
            <a:endParaRPr/>
          </a:p>
          <a:p>
            <a:pPr indent="0" lvl="0" marL="45720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4th</a:t>
            </a:r>
            <a:endParaRPr/>
          </a:p>
        </p:txBody>
      </p:sp>
      <p:sp>
        <p:nvSpPr>
          <p:cNvPr id="142" name="Google Shape;14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Run GRN w/pySCENIC x</a:t>
            </a:r>
            <a:endParaRPr/>
          </a:p>
          <a:p>
            <a:pPr indent="-342900" lvl="0" marL="457200" rtl="0" algn="l">
              <a:spcBef>
                <a:spcPts val="0"/>
              </a:spcBef>
              <a:spcAft>
                <a:spcPts val="0"/>
              </a:spcAft>
              <a:buSzPts val="1800"/>
              <a:buChar char="-"/>
            </a:pPr>
            <a:r>
              <a:rPr lang="en"/>
              <a:t>Try fine-tuning the </a:t>
            </a:r>
            <a:r>
              <a:rPr lang="en"/>
              <a:t>sprint</a:t>
            </a:r>
            <a:r>
              <a:rPr lang="en"/>
              <a:t> model using our dataset</a:t>
            </a:r>
            <a:endParaRPr/>
          </a:p>
          <a:p>
            <a:pPr indent="-342900" lvl="0" marL="457200" rtl="0" algn="l">
              <a:spcBef>
                <a:spcPts val="0"/>
              </a:spcBef>
              <a:spcAft>
                <a:spcPts val="0"/>
              </a:spcAft>
              <a:buSzPts val="1800"/>
              <a:buChar char="-"/>
            </a:pPr>
            <a:r>
              <a:rPr lang="en"/>
              <a:t>How many TF in perturb-seq dataset x</a:t>
            </a:r>
            <a:endParaRPr/>
          </a:p>
          <a:p>
            <a:pPr indent="-342900" lvl="0" marL="457200" rtl="0" algn="l">
              <a:spcBef>
                <a:spcPts val="0"/>
              </a:spcBef>
              <a:spcAft>
                <a:spcPts val="0"/>
              </a:spcAft>
              <a:buSzPts val="1800"/>
              <a:buChar char="-"/>
            </a:pPr>
            <a:r>
              <a:rPr lang="en"/>
              <a:t>Check how many of 1635 TFs in perturb seq (add yes/no column) </a:t>
            </a:r>
            <a:endParaRPr/>
          </a:p>
          <a:p>
            <a:pPr indent="-342900" lvl="0" marL="457200" rtl="0" algn="l">
              <a:spcBef>
                <a:spcPts val="0"/>
              </a:spcBef>
              <a:spcAft>
                <a:spcPts val="0"/>
              </a:spcAft>
              <a:buSzPts val="1800"/>
              <a:buChar char="-"/>
            </a:pPr>
            <a:r>
              <a:rPr b="1" lang="en" u="sng"/>
              <a:t>Understand outline </a:t>
            </a:r>
            <a:endParaRPr b="1" u="sng"/>
          </a:p>
          <a:p>
            <a:pPr indent="-317500" lvl="1" marL="914400" rtl="0" algn="l">
              <a:spcBef>
                <a:spcPts val="0"/>
              </a:spcBef>
              <a:spcAft>
                <a:spcPts val="0"/>
              </a:spcAft>
              <a:buSzPts val="1400"/>
              <a:buChar char="-"/>
            </a:pPr>
            <a:r>
              <a:rPr lang="en"/>
              <a:t>Consider data leakage</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Cell </a:t>
            </a:r>
            <a:r>
              <a:rPr lang="en"/>
              <a:t>Embeddings - </a:t>
            </a:r>
            <a:r>
              <a:rPr lang="en">
                <a:solidFill>
                  <a:srgbClr val="FF0000"/>
                </a:solidFill>
              </a:rPr>
              <a:t>not useful</a:t>
            </a:r>
            <a:endParaRPr>
              <a:solidFill>
                <a:srgbClr val="FF0000"/>
              </a:solidFill>
            </a:endParaRPr>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1390" u="sng"/>
              <a:t>Generated columns:</a:t>
            </a:r>
            <a:endParaRPr b="1" sz="1390" u="sng"/>
          </a:p>
          <a:p>
            <a:pPr indent="0" lvl="0" marL="0" rtl="0" algn="l">
              <a:lnSpc>
                <a:spcPct val="95000"/>
              </a:lnSpc>
              <a:spcBef>
                <a:spcPts val="1200"/>
              </a:spcBef>
              <a:spcAft>
                <a:spcPts val="0"/>
              </a:spcAft>
              <a:buClr>
                <a:schemeClr val="dk1"/>
              </a:buClr>
              <a:buSzPts val="605"/>
              <a:buFont typeface="Arial"/>
              <a:buNone/>
            </a:pPr>
            <a:r>
              <a:rPr lang="en" sz="1390"/>
              <a:t>scprint_emb_cell_type_ontology_term_id</a:t>
            </a:r>
            <a:endParaRPr sz="1390"/>
          </a:p>
          <a:p>
            <a:pPr indent="0" lvl="0" marL="0" rtl="0" algn="l">
              <a:lnSpc>
                <a:spcPct val="95000"/>
              </a:lnSpc>
              <a:spcBef>
                <a:spcPts val="1200"/>
              </a:spcBef>
              <a:spcAft>
                <a:spcPts val="0"/>
              </a:spcAft>
              <a:buClr>
                <a:schemeClr val="dk1"/>
              </a:buClr>
              <a:buSzPts val="605"/>
              <a:buFont typeface="Arial"/>
              <a:buNone/>
            </a:pPr>
            <a:r>
              <a:rPr lang="en" sz="1390"/>
              <a:t>scprint_emb_tissue_ontology_term_id</a:t>
            </a:r>
            <a:endParaRPr sz="1390"/>
          </a:p>
          <a:p>
            <a:pPr indent="0" lvl="0" marL="0" rtl="0" algn="l">
              <a:lnSpc>
                <a:spcPct val="95000"/>
              </a:lnSpc>
              <a:spcBef>
                <a:spcPts val="1200"/>
              </a:spcBef>
              <a:spcAft>
                <a:spcPts val="0"/>
              </a:spcAft>
              <a:buClr>
                <a:schemeClr val="dk1"/>
              </a:buClr>
              <a:buSzPts val="605"/>
              <a:buFont typeface="Arial"/>
              <a:buNone/>
            </a:pPr>
            <a:r>
              <a:rPr lang="en" sz="1390"/>
              <a:t>scprint_emb_disease_ontology_term_id</a:t>
            </a:r>
            <a:endParaRPr sz="1390"/>
          </a:p>
          <a:p>
            <a:pPr indent="0" lvl="0" marL="0" rtl="0" algn="l">
              <a:lnSpc>
                <a:spcPct val="95000"/>
              </a:lnSpc>
              <a:spcBef>
                <a:spcPts val="1200"/>
              </a:spcBef>
              <a:spcAft>
                <a:spcPts val="0"/>
              </a:spcAft>
              <a:buClr>
                <a:schemeClr val="dk1"/>
              </a:buClr>
              <a:buSzPts val="605"/>
              <a:buFont typeface="Arial"/>
              <a:buNone/>
            </a:pPr>
            <a:r>
              <a:rPr lang="en" sz="1390"/>
              <a:t>scprint_emb_age_group</a:t>
            </a:r>
            <a:endParaRPr sz="1390"/>
          </a:p>
          <a:p>
            <a:pPr indent="0" lvl="0" marL="0" rtl="0" algn="l">
              <a:lnSpc>
                <a:spcPct val="95000"/>
              </a:lnSpc>
              <a:spcBef>
                <a:spcPts val="1200"/>
              </a:spcBef>
              <a:spcAft>
                <a:spcPts val="0"/>
              </a:spcAft>
              <a:buClr>
                <a:schemeClr val="dk1"/>
              </a:buClr>
              <a:buSzPts val="605"/>
              <a:buFont typeface="Arial"/>
              <a:buNone/>
            </a:pPr>
            <a:r>
              <a:rPr lang="en" sz="1390"/>
              <a:t>scprint_emb_assay_ontology_term_id</a:t>
            </a:r>
            <a:endParaRPr sz="1390"/>
          </a:p>
          <a:p>
            <a:pPr indent="0" lvl="0" marL="0" rtl="0" algn="l">
              <a:lnSpc>
                <a:spcPct val="95000"/>
              </a:lnSpc>
              <a:spcBef>
                <a:spcPts val="1200"/>
              </a:spcBef>
              <a:spcAft>
                <a:spcPts val="0"/>
              </a:spcAft>
              <a:buClr>
                <a:schemeClr val="dk1"/>
              </a:buClr>
              <a:buSzPts val="605"/>
              <a:buFont typeface="Arial"/>
              <a:buNone/>
            </a:pPr>
            <a:r>
              <a:rPr lang="en" sz="1390"/>
              <a:t>scprint_emb_self_reported_ethnicity_ontology_term_id</a:t>
            </a:r>
            <a:endParaRPr sz="1390"/>
          </a:p>
          <a:p>
            <a:pPr indent="0" lvl="0" marL="0" rtl="0" algn="l">
              <a:lnSpc>
                <a:spcPct val="95000"/>
              </a:lnSpc>
              <a:spcBef>
                <a:spcPts val="1200"/>
              </a:spcBef>
              <a:spcAft>
                <a:spcPts val="0"/>
              </a:spcAft>
              <a:buClr>
                <a:schemeClr val="dk1"/>
              </a:buClr>
              <a:buSzPts val="605"/>
              <a:buFont typeface="Arial"/>
              <a:buNone/>
            </a:pPr>
            <a:r>
              <a:rPr lang="en" sz="1390"/>
              <a:t>scprint_emb_sex_ontology_term_id</a:t>
            </a:r>
            <a:endParaRPr sz="1390"/>
          </a:p>
          <a:p>
            <a:pPr indent="0" lvl="0" marL="0" rtl="0" algn="l">
              <a:lnSpc>
                <a:spcPct val="95000"/>
              </a:lnSpc>
              <a:spcBef>
                <a:spcPts val="1200"/>
              </a:spcBef>
              <a:spcAft>
                <a:spcPts val="0"/>
              </a:spcAft>
              <a:buClr>
                <a:schemeClr val="dk1"/>
              </a:buClr>
              <a:buSzPts val="605"/>
              <a:buFont typeface="Arial"/>
              <a:buNone/>
            </a:pPr>
            <a:r>
              <a:rPr lang="en" sz="1390"/>
              <a:t>scprint_emb_organism_ontology_term_id</a:t>
            </a:r>
            <a:endParaRPr sz="1390"/>
          </a:p>
          <a:p>
            <a:pPr indent="0" lvl="0" marL="0" rtl="0" algn="l">
              <a:lnSpc>
                <a:spcPct val="95000"/>
              </a:lnSpc>
              <a:spcBef>
                <a:spcPts val="1200"/>
              </a:spcBef>
              <a:spcAft>
                <a:spcPts val="0"/>
              </a:spcAft>
              <a:buClr>
                <a:schemeClr val="dk1"/>
              </a:buClr>
              <a:buSzPts val="605"/>
              <a:buFont typeface="Arial"/>
              <a:buNone/>
            </a:pPr>
            <a:r>
              <a:rPr lang="en" sz="1390"/>
              <a:t>scprint_emb_cell_culture</a:t>
            </a:r>
            <a:endParaRPr sz="1390"/>
          </a:p>
          <a:p>
            <a:pPr indent="0" lvl="0" marL="0" rtl="0" algn="l">
              <a:lnSpc>
                <a:spcPct val="95000"/>
              </a:lnSpc>
              <a:spcBef>
                <a:spcPts val="1200"/>
              </a:spcBef>
              <a:spcAft>
                <a:spcPts val="1200"/>
              </a:spcAft>
              <a:buSzPts val="605"/>
              <a:buNone/>
            </a:pPr>
            <a:r>
              <a:t/>
            </a:r>
            <a:endParaRPr sz="139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across</a:t>
            </a:r>
            <a:endParaRPr>
              <a:solidFill>
                <a:srgbClr val="FF0000"/>
              </a:solidFill>
            </a:endParaRPr>
          </a:p>
        </p:txBody>
      </p:sp>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2190"/>
              <a:t>Most var across = selects the 2000 genes that distinguish each condition from the other</a:t>
            </a:r>
            <a:endParaRPr sz="2190"/>
          </a:p>
          <a:p>
            <a:pPr indent="0" lvl="0" marL="0" rtl="0" algn="l">
              <a:lnSpc>
                <a:spcPct val="95000"/>
              </a:lnSpc>
              <a:spcBef>
                <a:spcPts val="1200"/>
              </a:spcBef>
              <a:spcAft>
                <a:spcPts val="0"/>
              </a:spcAft>
              <a:buNone/>
            </a:pPr>
            <a:r>
              <a:t/>
            </a:r>
            <a:endParaRPr sz="2190"/>
          </a:p>
          <a:p>
            <a:pPr indent="0" lvl="0" marL="0" rtl="0" algn="l">
              <a:lnSpc>
                <a:spcPct val="95000"/>
              </a:lnSpc>
              <a:spcBef>
                <a:spcPts val="1200"/>
              </a:spcBef>
              <a:spcAft>
                <a:spcPts val="0"/>
              </a:spcAft>
              <a:buNone/>
            </a:pPr>
            <a:r>
              <a:rPr lang="en" sz="2190"/>
              <a:t>For rest = picks genes that are uniquely variable in rest cells </a:t>
            </a:r>
            <a:r>
              <a:rPr lang="en" sz="2190"/>
              <a:t>compared</a:t>
            </a:r>
            <a:r>
              <a:rPr lang="en" sz="2190"/>
              <a:t> to act</a:t>
            </a:r>
            <a:endParaRPr sz="2190"/>
          </a:p>
          <a:p>
            <a:pPr indent="0" lvl="0" marL="0" rtl="0" algn="l">
              <a:lnSpc>
                <a:spcPct val="95000"/>
              </a:lnSpc>
              <a:spcBef>
                <a:spcPts val="1200"/>
              </a:spcBef>
              <a:spcAft>
                <a:spcPts val="0"/>
              </a:spcAft>
              <a:buNone/>
            </a:pPr>
            <a:r>
              <a:rPr lang="en" sz="2190"/>
              <a:t>For act = picks genes that are uniquely variable in act cells compared to rest</a:t>
            </a:r>
            <a:endParaRPr sz="2190"/>
          </a:p>
          <a:p>
            <a:pPr indent="0" lvl="0" marL="0" rtl="0" algn="l">
              <a:lnSpc>
                <a:spcPct val="95000"/>
              </a:lnSpc>
              <a:spcBef>
                <a:spcPts val="1200"/>
              </a:spcBef>
              <a:spcAft>
                <a:spcPts val="0"/>
              </a:spcAft>
              <a:buNone/>
            </a:pPr>
            <a:r>
              <a:t/>
            </a:r>
            <a:endParaRPr sz="2190"/>
          </a:p>
          <a:p>
            <a:pPr indent="0" lvl="0" marL="0" rtl="0" algn="l">
              <a:lnSpc>
                <a:spcPct val="95000"/>
              </a:lnSpc>
              <a:spcBef>
                <a:spcPts val="1200"/>
              </a:spcBef>
              <a:spcAft>
                <a:spcPts val="0"/>
              </a:spcAft>
              <a:buNone/>
            </a:pPr>
            <a:r>
              <a:t/>
            </a:r>
            <a:endParaRPr sz="2190"/>
          </a:p>
          <a:p>
            <a:pPr indent="0" lvl="0" marL="0" rtl="0" algn="l">
              <a:lnSpc>
                <a:spcPct val="95000"/>
              </a:lnSpc>
              <a:spcBef>
                <a:spcPts val="1200"/>
              </a:spcBef>
              <a:spcAft>
                <a:spcPts val="1200"/>
              </a:spcAft>
              <a:buSzPts val="605"/>
              <a:buNone/>
            </a:pPr>
            <a:r>
              <a:t/>
            </a:r>
            <a:endParaRPr sz="219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across</a:t>
            </a:r>
            <a:endParaRPr>
              <a:solidFill>
                <a:srgbClr val="FF0000"/>
              </a:solidFill>
            </a:endParaRPr>
          </a:p>
        </p:txBody>
      </p:sp>
      <p:sp>
        <p:nvSpPr>
          <p:cNvPr id="160" name="Google Shape;160;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2190" u="sng"/>
              <a:t>Generated files:</a:t>
            </a:r>
            <a:endParaRPr b="1" sz="2190" u="sng"/>
          </a:p>
          <a:p>
            <a:pPr indent="0" lvl="0" marL="0" rtl="0" algn="l">
              <a:lnSpc>
                <a:spcPct val="95000"/>
              </a:lnSpc>
              <a:spcBef>
                <a:spcPts val="1200"/>
              </a:spcBef>
              <a:spcAft>
                <a:spcPts val="0"/>
              </a:spcAft>
              <a:buSzPts val="605"/>
              <a:buNone/>
            </a:pPr>
            <a:r>
              <a:rPr lang="en" sz="2190"/>
              <a:t>Two GRN h5ad files produced by scPRINT 2</a:t>
            </a:r>
            <a:endParaRPr sz="2190"/>
          </a:p>
          <a:p>
            <a:pPr indent="-367665" lvl="0" marL="457200" rtl="0" algn="l">
              <a:lnSpc>
                <a:spcPct val="95000"/>
              </a:lnSpc>
              <a:spcBef>
                <a:spcPts val="1200"/>
              </a:spcBef>
              <a:spcAft>
                <a:spcPts val="0"/>
              </a:spcAft>
              <a:buSzPts val="2190"/>
              <a:buChar char="-"/>
            </a:pPr>
            <a:r>
              <a:rPr lang="en" sz="2190"/>
              <a:t>2000 x 2000 attention weight matrix where</a:t>
            </a:r>
            <a:endParaRPr sz="2190"/>
          </a:p>
          <a:p>
            <a:pPr indent="-367665" lvl="1" marL="914400" rtl="0" algn="l">
              <a:lnSpc>
                <a:spcPct val="95000"/>
              </a:lnSpc>
              <a:spcBef>
                <a:spcPts val="0"/>
              </a:spcBef>
              <a:spcAft>
                <a:spcPts val="0"/>
              </a:spcAft>
              <a:buSzPts val="2190"/>
              <a:buChar char="-"/>
            </a:pPr>
            <a:r>
              <a:rPr lang="en" sz="2190"/>
              <a:t>Entry [i, j] = how strongly gene i regulates gene j in that cell state</a:t>
            </a:r>
            <a:endParaRPr sz="2190"/>
          </a:p>
          <a:p>
            <a:pPr indent="-367665" lvl="0" marL="457200" rtl="0" algn="l">
              <a:lnSpc>
                <a:spcPct val="95000"/>
              </a:lnSpc>
              <a:spcBef>
                <a:spcPts val="0"/>
              </a:spcBef>
              <a:spcAft>
                <a:spcPts val="0"/>
              </a:spcAft>
              <a:buSzPts val="2190"/>
              <a:buChar char="-"/>
            </a:pPr>
            <a:r>
              <a:rPr lang="en" sz="2190"/>
              <a:t>Out of rest, 2000 genes: 211 identified as TFs</a:t>
            </a:r>
            <a:endParaRPr sz="2190"/>
          </a:p>
          <a:p>
            <a:pPr indent="-367665" lvl="0" marL="457200" rtl="0" algn="l">
              <a:lnSpc>
                <a:spcPct val="95000"/>
              </a:lnSpc>
              <a:spcBef>
                <a:spcPts val="0"/>
              </a:spcBef>
              <a:spcAft>
                <a:spcPts val="0"/>
              </a:spcAft>
              <a:buSzPts val="2190"/>
              <a:buChar char="-"/>
            </a:pPr>
            <a:r>
              <a:rPr lang="en" sz="2190"/>
              <a:t>Out of act, 2000 genes, 110 identified TFs</a:t>
            </a:r>
            <a:endParaRPr i="1" sz="2190"/>
          </a:p>
          <a:p>
            <a:pPr indent="0" lvl="0" marL="0" rtl="0" algn="l">
              <a:lnSpc>
                <a:spcPct val="95000"/>
              </a:lnSpc>
              <a:spcBef>
                <a:spcPts val="1200"/>
              </a:spcBef>
              <a:spcAft>
                <a:spcPts val="0"/>
              </a:spcAft>
              <a:buNone/>
            </a:pPr>
            <a:r>
              <a:rPr i="1" lang="en" sz="2190"/>
              <a:t>These numbers are different because it picks the 2000 genes that are most variable in </a:t>
            </a:r>
            <a:r>
              <a:rPr b="1" i="1" lang="en" sz="2190"/>
              <a:t>that cell type</a:t>
            </a:r>
            <a:endParaRPr i="1" sz="2190"/>
          </a:p>
          <a:p>
            <a:pPr indent="0" lvl="0" marL="0" rtl="0" algn="l">
              <a:lnSpc>
                <a:spcPct val="95000"/>
              </a:lnSpc>
              <a:spcBef>
                <a:spcPts val="1200"/>
              </a:spcBef>
              <a:spcAft>
                <a:spcPts val="1200"/>
              </a:spcAft>
              <a:buSzPts val="605"/>
              <a:buNone/>
            </a:pPr>
            <a:r>
              <a:t/>
            </a:r>
            <a:endParaRPr sz="219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across</a:t>
            </a:r>
            <a:endParaRPr>
              <a:solidFill>
                <a:srgbClr val="FF0000"/>
              </a:solidFill>
            </a:endParaRPr>
          </a:p>
        </p:txBody>
      </p:sp>
      <p:sp>
        <p:nvSpPr>
          <p:cNvPr id="166" name="Google Shape;166;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2190" u="sng"/>
              <a:t>Generated files:</a:t>
            </a:r>
            <a:endParaRPr b="1" sz="2190" u="sng"/>
          </a:p>
          <a:p>
            <a:pPr indent="0" lvl="0" marL="0" rtl="0" algn="l">
              <a:lnSpc>
                <a:spcPct val="95000"/>
              </a:lnSpc>
              <a:spcBef>
                <a:spcPts val="1200"/>
              </a:spcBef>
              <a:spcAft>
                <a:spcPts val="0"/>
              </a:spcAft>
              <a:buSzPts val="605"/>
              <a:buNone/>
            </a:pPr>
            <a:r>
              <a:rPr lang="en" sz="2190"/>
              <a:t>Two GRN h5ad files produced by scPRINT 2</a:t>
            </a:r>
            <a:endParaRPr sz="2190"/>
          </a:p>
          <a:p>
            <a:pPr indent="-367665" lvl="0" marL="457200" rtl="0" algn="l">
              <a:lnSpc>
                <a:spcPct val="95000"/>
              </a:lnSpc>
              <a:spcBef>
                <a:spcPts val="1200"/>
              </a:spcBef>
              <a:spcAft>
                <a:spcPts val="0"/>
              </a:spcAft>
              <a:buSzPts val="2190"/>
              <a:buChar char="-"/>
            </a:pPr>
            <a:r>
              <a:rPr lang="en" sz="2190"/>
              <a:t>2000 x 2000 attention weight matrix where</a:t>
            </a:r>
            <a:endParaRPr sz="2190"/>
          </a:p>
          <a:p>
            <a:pPr indent="-367665" lvl="1" marL="914400" rtl="0" algn="l">
              <a:lnSpc>
                <a:spcPct val="95000"/>
              </a:lnSpc>
              <a:spcBef>
                <a:spcPts val="0"/>
              </a:spcBef>
              <a:spcAft>
                <a:spcPts val="0"/>
              </a:spcAft>
              <a:buSzPts val="2190"/>
              <a:buChar char="-"/>
            </a:pPr>
            <a:r>
              <a:rPr lang="en" sz="2190"/>
              <a:t>Entry [i, j] = how strongly gene i regulates gene j in that cell state</a:t>
            </a:r>
            <a:endParaRPr sz="2190"/>
          </a:p>
          <a:p>
            <a:pPr indent="-367665" lvl="0" marL="457200" rtl="0" algn="l">
              <a:lnSpc>
                <a:spcPct val="95000"/>
              </a:lnSpc>
              <a:spcBef>
                <a:spcPts val="0"/>
              </a:spcBef>
              <a:spcAft>
                <a:spcPts val="0"/>
              </a:spcAft>
              <a:buSzPts val="2190"/>
              <a:buChar char="-"/>
            </a:pPr>
            <a:r>
              <a:rPr lang="en" sz="2190"/>
              <a:t>Out of rest, 2000 genes: 211 identified as TFs</a:t>
            </a:r>
            <a:endParaRPr sz="2190"/>
          </a:p>
          <a:p>
            <a:pPr indent="-367665" lvl="0" marL="457200" rtl="0" algn="l">
              <a:lnSpc>
                <a:spcPct val="95000"/>
              </a:lnSpc>
              <a:spcBef>
                <a:spcPts val="0"/>
              </a:spcBef>
              <a:spcAft>
                <a:spcPts val="0"/>
              </a:spcAft>
              <a:buSzPts val="2190"/>
              <a:buChar char="-"/>
            </a:pPr>
            <a:r>
              <a:rPr lang="en" sz="2190"/>
              <a:t>Out of act, 2000 genes, 110 identified TFs</a:t>
            </a:r>
            <a:endParaRPr i="1" sz="2190"/>
          </a:p>
          <a:p>
            <a:pPr indent="0" lvl="0" marL="0" rtl="0" algn="l">
              <a:lnSpc>
                <a:spcPct val="95000"/>
              </a:lnSpc>
              <a:spcBef>
                <a:spcPts val="1200"/>
              </a:spcBef>
              <a:spcAft>
                <a:spcPts val="0"/>
              </a:spcAft>
              <a:buNone/>
            </a:pPr>
            <a:r>
              <a:rPr b="1" i="1" lang="en" sz="2190" u="sng">
                <a:solidFill>
                  <a:schemeClr val="dk1"/>
                </a:solidFill>
                <a:highlight>
                  <a:srgbClr val="FF0000"/>
                </a:highlight>
              </a:rPr>
              <a:t>THERE ARE NO SHARED GENES IN THESE 2000 GENES</a:t>
            </a:r>
            <a:endParaRPr b="1" i="1" sz="2190" u="sng">
              <a:solidFill>
                <a:schemeClr val="dk1"/>
              </a:solidFill>
              <a:highlight>
                <a:srgbClr val="FF0000"/>
              </a:highlight>
            </a:endParaRPr>
          </a:p>
          <a:p>
            <a:pPr indent="0" lvl="0" marL="0" rtl="0" algn="l">
              <a:lnSpc>
                <a:spcPct val="95000"/>
              </a:lnSpc>
              <a:spcBef>
                <a:spcPts val="1200"/>
              </a:spcBef>
              <a:spcAft>
                <a:spcPts val="1200"/>
              </a:spcAft>
              <a:buSzPts val="605"/>
              <a:buNone/>
            </a:pPr>
            <a:r>
              <a:t/>
            </a:r>
            <a:endParaRPr sz="219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across</a:t>
            </a:r>
            <a:endParaRPr>
              <a:solidFill>
                <a:srgbClr val="FF0000"/>
              </a:solidFill>
            </a:endParaRPr>
          </a:p>
        </p:txBody>
      </p:sp>
      <p:sp>
        <p:nvSpPr>
          <p:cNvPr id="172" name="Google Shape;172;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0"/>
              </a:spcAft>
              <a:buNone/>
            </a:pPr>
            <a:r>
              <a:rPr lang="en" sz="1390"/>
              <a:t>Most “active” TFs for </a:t>
            </a:r>
            <a:r>
              <a:rPr b="1" lang="en" sz="1390"/>
              <a:t>rest</a:t>
            </a:r>
            <a:endParaRPr b="1" sz="1390"/>
          </a:p>
          <a:p>
            <a:pPr indent="0" lvl="0" marL="0" rtl="0" algn="l">
              <a:lnSpc>
                <a:spcPct val="95000"/>
              </a:lnSpc>
              <a:spcBef>
                <a:spcPts val="1200"/>
              </a:spcBef>
              <a:spcAft>
                <a:spcPts val="1200"/>
              </a:spcAft>
              <a:buSzPts val="605"/>
              <a:buNone/>
            </a:pPr>
            <a:r>
              <a:t/>
            </a:r>
            <a:endParaRPr sz="1390"/>
          </a:p>
        </p:txBody>
      </p:sp>
      <p:pic>
        <p:nvPicPr>
          <p:cNvPr id="173" name="Google Shape;173;p31" title="Screenshot 2026-03-11 at 1.31.58 PM.png"/>
          <p:cNvPicPr preferRelativeResize="0"/>
          <p:nvPr/>
        </p:nvPicPr>
        <p:blipFill>
          <a:blip r:embed="rId3">
            <a:alphaModFix/>
          </a:blip>
          <a:stretch>
            <a:fillRect/>
          </a:stretch>
        </p:blipFill>
        <p:spPr>
          <a:xfrm>
            <a:off x="1951175" y="1533225"/>
            <a:ext cx="4681355" cy="3416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across</a:t>
            </a:r>
            <a:endParaRPr>
              <a:solidFill>
                <a:srgbClr val="FF0000"/>
              </a:solidFill>
            </a:endParaRPr>
          </a:p>
        </p:txBody>
      </p:sp>
      <p:sp>
        <p:nvSpPr>
          <p:cNvPr id="179" name="Google Shape;179;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0"/>
              </a:spcAft>
              <a:buNone/>
            </a:pPr>
            <a:r>
              <a:rPr lang="en" sz="1390"/>
              <a:t>Most “active” TFs for </a:t>
            </a:r>
            <a:r>
              <a:rPr b="1" lang="en" sz="1390"/>
              <a:t>act</a:t>
            </a:r>
            <a:endParaRPr b="1" sz="1390"/>
          </a:p>
          <a:p>
            <a:pPr indent="0" lvl="0" marL="0" rtl="0" algn="l">
              <a:lnSpc>
                <a:spcPct val="95000"/>
              </a:lnSpc>
              <a:spcBef>
                <a:spcPts val="1200"/>
              </a:spcBef>
              <a:spcAft>
                <a:spcPts val="1200"/>
              </a:spcAft>
              <a:buSzPts val="605"/>
              <a:buNone/>
            </a:pPr>
            <a:r>
              <a:t/>
            </a:r>
            <a:endParaRPr sz="1390"/>
          </a:p>
        </p:txBody>
      </p:sp>
      <p:pic>
        <p:nvPicPr>
          <p:cNvPr id="180" name="Google Shape;180;p32" title="Screenshot 2026-03-11 at 1.32.16 PM.png"/>
          <p:cNvPicPr preferRelativeResize="0"/>
          <p:nvPr/>
        </p:nvPicPr>
        <p:blipFill>
          <a:blip r:embed="rId3">
            <a:alphaModFix/>
          </a:blip>
          <a:stretch>
            <a:fillRect/>
          </a:stretch>
        </p:blipFill>
        <p:spPr>
          <a:xfrm>
            <a:off x="2225500" y="1772125"/>
            <a:ext cx="4186901" cy="3055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within</a:t>
            </a:r>
            <a:endParaRPr>
              <a:solidFill>
                <a:srgbClr val="FF0000"/>
              </a:solidFill>
            </a:endParaRPr>
          </a:p>
        </p:txBody>
      </p:sp>
      <p:sp>
        <p:nvSpPr>
          <p:cNvPr id="186" name="Google Shape;186;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6865" lvl="0" marL="457200" rtl="0" algn="l">
              <a:lnSpc>
                <a:spcPct val="95000"/>
              </a:lnSpc>
              <a:spcBef>
                <a:spcPts val="0"/>
              </a:spcBef>
              <a:spcAft>
                <a:spcPts val="0"/>
              </a:spcAft>
              <a:buSzPts val="1390"/>
              <a:buChar char="-"/>
            </a:pPr>
            <a:r>
              <a:rPr lang="en" sz="1390"/>
              <a:t>Selects the 2000 genes that are most variable </a:t>
            </a:r>
            <a:r>
              <a:rPr b="1" lang="en" sz="1390"/>
              <a:t>within</a:t>
            </a:r>
            <a:r>
              <a:rPr lang="en" sz="1390"/>
              <a:t> each condition, without contrasting against other group</a:t>
            </a:r>
            <a:endParaRPr sz="1390"/>
          </a:p>
          <a:p>
            <a:pPr indent="-316865" lvl="0" marL="457200" rtl="0" algn="l">
              <a:lnSpc>
                <a:spcPct val="95000"/>
              </a:lnSpc>
              <a:spcBef>
                <a:spcPts val="0"/>
              </a:spcBef>
              <a:spcAft>
                <a:spcPts val="0"/>
              </a:spcAft>
              <a:buSzPts val="1390"/>
              <a:buChar char="-"/>
            </a:pPr>
            <a:r>
              <a:rPr lang="en" sz="1390"/>
              <a:t>There is more overlap here within GRNs</a:t>
            </a:r>
            <a:endParaRPr sz="139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within</a:t>
            </a:r>
            <a:endParaRPr>
              <a:solidFill>
                <a:srgbClr val="FF0000"/>
              </a:solidFill>
            </a:endParaRPr>
          </a:p>
        </p:txBody>
      </p:sp>
      <p:sp>
        <p:nvSpPr>
          <p:cNvPr id="192" name="Google Shape;192;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74015" lvl="0" marL="457200" rtl="0" algn="l">
              <a:lnSpc>
                <a:spcPct val="95000"/>
              </a:lnSpc>
              <a:spcBef>
                <a:spcPts val="0"/>
              </a:spcBef>
              <a:spcAft>
                <a:spcPts val="0"/>
              </a:spcAft>
              <a:buSzPts val="2290"/>
              <a:buChar char="-"/>
            </a:pPr>
            <a:r>
              <a:rPr lang="en" sz="2290"/>
              <a:t>Cleaning rest GRN...</a:t>
            </a:r>
            <a:endParaRPr sz="2290"/>
          </a:p>
          <a:p>
            <a:pPr indent="-374015" lvl="0" marL="457200" rtl="0" algn="l">
              <a:lnSpc>
                <a:spcPct val="95000"/>
              </a:lnSpc>
              <a:spcBef>
                <a:spcPts val="0"/>
              </a:spcBef>
              <a:spcAft>
                <a:spcPts val="0"/>
              </a:spcAft>
              <a:buSzPts val="2290"/>
              <a:buChar char="-"/>
            </a:pPr>
            <a:r>
              <a:rPr lang="en" sz="2290"/>
              <a:t>  rest: 2000 genes, 153 identified as TFs, self-loops removed.</a:t>
            </a:r>
            <a:endParaRPr sz="2290"/>
          </a:p>
          <a:p>
            <a:pPr indent="-374015" lvl="0" marL="457200" rtl="0" algn="l">
              <a:lnSpc>
                <a:spcPct val="95000"/>
              </a:lnSpc>
              <a:spcBef>
                <a:spcPts val="0"/>
              </a:spcBef>
              <a:spcAft>
                <a:spcPts val="0"/>
              </a:spcAft>
              <a:buSzPts val="2290"/>
              <a:buChar char="-"/>
            </a:pPr>
            <a:r>
              <a:t/>
            </a:r>
            <a:endParaRPr sz="2290"/>
          </a:p>
          <a:p>
            <a:pPr indent="-374015" lvl="0" marL="457200" rtl="0" algn="l">
              <a:lnSpc>
                <a:spcPct val="95000"/>
              </a:lnSpc>
              <a:spcBef>
                <a:spcPts val="0"/>
              </a:spcBef>
              <a:spcAft>
                <a:spcPts val="0"/>
              </a:spcAft>
              <a:buSzPts val="2290"/>
              <a:buChar char="-"/>
            </a:pPr>
            <a:r>
              <a:rPr lang="en" sz="2290"/>
              <a:t>Cleaning act GRN...</a:t>
            </a:r>
            <a:endParaRPr sz="2290"/>
          </a:p>
          <a:p>
            <a:pPr indent="-374015" lvl="0" marL="457200" rtl="0" algn="l">
              <a:lnSpc>
                <a:spcPct val="95000"/>
              </a:lnSpc>
              <a:spcBef>
                <a:spcPts val="0"/>
              </a:spcBef>
              <a:spcAft>
                <a:spcPts val="0"/>
              </a:spcAft>
              <a:buSzPts val="2290"/>
              <a:buChar char="-"/>
            </a:pPr>
            <a:r>
              <a:rPr lang="en" sz="2290"/>
              <a:t>  act: 2000 genes, 144 identified as TFs, self-loops removed.</a:t>
            </a:r>
            <a:endParaRPr sz="2290"/>
          </a:p>
          <a:p>
            <a:pPr indent="0" lvl="0" marL="457200" rtl="0" algn="l">
              <a:lnSpc>
                <a:spcPct val="95000"/>
              </a:lnSpc>
              <a:spcBef>
                <a:spcPts val="1200"/>
              </a:spcBef>
              <a:spcAft>
                <a:spcPts val="1200"/>
              </a:spcAft>
              <a:buNone/>
            </a:pPr>
            <a:r>
              <a:t/>
            </a:r>
            <a:endParaRPr sz="249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within</a:t>
            </a:r>
            <a:endParaRPr>
              <a:solidFill>
                <a:srgbClr val="FF0000"/>
              </a:solidFill>
            </a:endParaRPr>
          </a:p>
        </p:txBody>
      </p:sp>
      <p:sp>
        <p:nvSpPr>
          <p:cNvPr id="198" name="Google Shape;198;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0"/>
              </a:spcAft>
              <a:buNone/>
            </a:pPr>
            <a:r>
              <a:rPr lang="en" sz="2290"/>
              <a:t>Genes in rest network : 2000</a:t>
            </a:r>
            <a:endParaRPr sz="2290"/>
          </a:p>
          <a:p>
            <a:pPr indent="0" lvl="0" marL="457200" rtl="0" algn="l">
              <a:lnSpc>
                <a:spcPct val="95000"/>
              </a:lnSpc>
              <a:spcBef>
                <a:spcPts val="1200"/>
              </a:spcBef>
              <a:spcAft>
                <a:spcPts val="0"/>
              </a:spcAft>
              <a:buNone/>
            </a:pPr>
            <a:r>
              <a:rPr lang="en" sz="2290"/>
              <a:t>Genes in act network  : 2000</a:t>
            </a:r>
            <a:endParaRPr sz="2290"/>
          </a:p>
          <a:p>
            <a:pPr indent="0" lvl="0" marL="457200" rtl="0" algn="l">
              <a:lnSpc>
                <a:spcPct val="95000"/>
              </a:lnSpc>
              <a:spcBef>
                <a:spcPts val="1200"/>
              </a:spcBef>
              <a:spcAft>
                <a:spcPts val="1200"/>
              </a:spcAft>
              <a:buNone/>
            </a:pPr>
            <a:r>
              <a:rPr lang="en" sz="2290"/>
              <a:t>Genes shared in both  : 928</a:t>
            </a:r>
            <a:endParaRPr sz="229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across</a:t>
            </a:r>
            <a:endParaRPr>
              <a:solidFill>
                <a:srgbClr val="FF0000"/>
              </a:solidFill>
            </a:endParaRPr>
          </a:p>
        </p:txBody>
      </p:sp>
      <p:sp>
        <p:nvSpPr>
          <p:cNvPr id="204" name="Google Shape;204;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0"/>
              </a:spcAft>
              <a:buNone/>
            </a:pPr>
            <a:r>
              <a:rPr lang="en" sz="2290"/>
              <a:t>Genes in rest network : 2000</a:t>
            </a:r>
            <a:endParaRPr sz="2290"/>
          </a:p>
          <a:p>
            <a:pPr indent="0" lvl="0" marL="457200" rtl="0" algn="l">
              <a:lnSpc>
                <a:spcPct val="95000"/>
              </a:lnSpc>
              <a:spcBef>
                <a:spcPts val="1200"/>
              </a:spcBef>
              <a:spcAft>
                <a:spcPts val="0"/>
              </a:spcAft>
              <a:buNone/>
            </a:pPr>
            <a:r>
              <a:rPr lang="en" sz="2290"/>
              <a:t>Genes in act network  : 2000</a:t>
            </a:r>
            <a:endParaRPr sz="2290"/>
          </a:p>
          <a:p>
            <a:pPr indent="0" lvl="0" marL="457200" rtl="0" algn="l">
              <a:lnSpc>
                <a:spcPct val="95000"/>
              </a:lnSpc>
              <a:spcBef>
                <a:spcPts val="1200"/>
              </a:spcBef>
              <a:spcAft>
                <a:spcPts val="1200"/>
              </a:spcAft>
              <a:buNone/>
            </a:pPr>
            <a:r>
              <a:rPr lang="en" sz="2290"/>
              <a:t>Genes shared in both  : 928</a:t>
            </a:r>
            <a:endParaRPr sz="2290"/>
          </a:p>
        </p:txBody>
      </p:sp>
      <p:pic>
        <p:nvPicPr>
          <p:cNvPr id="205" name="Google Shape;205;p36" title="Screenshot 2026-03-11 at 1.56.07 PM.png"/>
          <p:cNvPicPr preferRelativeResize="0"/>
          <p:nvPr/>
        </p:nvPicPr>
        <p:blipFill>
          <a:blip r:embed="rId3">
            <a:alphaModFix/>
          </a:blip>
          <a:stretch>
            <a:fillRect/>
          </a:stretch>
        </p:blipFill>
        <p:spPr>
          <a:xfrm>
            <a:off x="195450" y="1067200"/>
            <a:ext cx="4231261" cy="3285725"/>
          </a:xfrm>
          <a:prstGeom prst="rect">
            <a:avLst/>
          </a:prstGeom>
          <a:noFill/>
          <a:ln>
            <a:noFill/>
          </a:ln>
        </p:spPr>
      </p:pic>
      <p:pic>
        <p:nvPicPr>
          <p:cNvPr id="206" name="Google Shape;206;p36" title="Screenshot 2026-03-11 at 1.56.26 PM.png"/>
          <p:cNvPicPr preferRelativeResize="0"/>
          <p:nvPr/>
        </p:nvPicPr>
        <p:blipFill>
          <a:blip r:embed="rId4">
            <a:alphaModFix/>
          </a:blip>
          <a:stretch>
            <a:fillRect/>
          </a:stretch>
        </p:blipFill>
        <p:spPr>
          <a:xfrm>
            <a:off x="4426700" y="1067188"/>
            <a:ext cx="4405600" cy="3285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scPRINT </a:t>
            </a:r>
            <a:r>
              <a:rPr b="1" lang="en"/>
              <a:t>GRN w most var across</a:t>
            </a:r>
            <a:endParaRPr>
              <a:solidFill>
                <a:srgbClr val="FF0000"/>
              </a:solidFill>
            </a:endParaRPr>
          </a:p>
        </p:txBody>
      </p:sp>
      <p:pic>
        <p:nvPicPr>
          <p:cNvPr id="212" name="Google Shape;212;p37" title="Screenshot 2026-03-11 at 1.59.46 PM.png"/>
          <p:cNvPicPr preferRelativeResize="0"/>
          <p:nvPr/>
        </p:nvPicPr>
        <p:blipFill>
          <a:blip r:embed="rId3">
            <a:alphaModFix/>
          </a:blip>
          <a:stretch>
            <a:fillRect/>
          </a:stretch>
        </p:blipFill>
        <p:spPr>
          <a:xfrm>
            <a:off x="137150" y="1137675"/>
            <a:ext cx="5547349" cy="3530137"/>
          </a:xfrm>
          <a:prstGeom prst="rect">
            <a:avLst/>
          </a:prstGeom>
          <a:noFill/>
          <a:ln>
            <a:noFill/>
          </a:ln>
        </p:spPr>
      </p:pic>
      <p:pic>
        <p:nvPicPr>
          <p:cNvPr id="213" name="Google Shape;213;p37" title="Screenshot 2026-03-11 at 1.59.55 PM.png"/>
          <p:cNvPicPr preferRelativeResize="0"/>
          <p:nvPr/>
        </p:nvPicPr>
        <p:blipFill>
          <a:blip r:embed="rId4">
            <a:alphaModFix/>
          </a:blip>
          <a:stretch>
            <a:fillRect/>
          </a:stretch>
        </p:blipFill>
        <p:spPr>
          <a:xfrm>
            <a:off x="3387275" y="1423250"/>
            <a:ext cx="5547349" cy="3530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TFs in Perturb-seq (from </a:t>
            </a:r>
            <a:r>
              <a:rPr i="1" lang="en"/>
              <a:t>humanTFs_1639_clean.csv</a:t>
            </a:r>
            <a:r>
              <a:rPr lang="en"/>
              <a:t>)</a:t>
            </a:r>
            <a:endParaRPr>
              <a:solidFill>
                <a:srgbClr val="FF0000"/>
              </a:solidFill>
            </a:endParaRPr>
          </a:p>
        </p:txBody>
      </p:sp>
      <p:sp>
        <p:nvSpPr>
          <p:cNvPr id="219" name="Google Shape;219;p38"/>
          <p:cNvSpPr txBox="1"/>
          <p:nvPr/>
        </p:nvSpPr>
        <p:spPr>
          <a:xfrm>
            <a:off x="1744975" y="1661175"/>
            <a:ext cx="8576400" cy="14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50">
                <a:solidFill>
                  <a:srgbClr val="E3E3E3"/>
                </a:solidFill>
                <a:highlight>
                  <a:srgbClr val="282A2C"/>
                </a:highlight>
                <a:latin typeface="Courier New"/>
                <a:ea typeface="Courier New"/>
                <a:cs typeface="Courier New"/>
                <a:sym typeface="Courier New"/>
              </a:rPr>
              <a:t>TFs in Perturb-seq : 990</a:t>
            </a:r>
            <a:endParaRPr sz="2650">
              <a:solidFill>
                <a:srgbClr val="E3E3E3"/>
              </a:solidFill>
              <a:highlight>
                <a:srgbClr val="282A2C"/>
              </a:highlight>
              <a:latin typeface="Courier New"/>
              <a:ea typeface="Courier New"/>
              <a:cs typeface="Courier New"/>
              <a:sym typeface="Courier New"/>
            </a:endParaRPr>
          </a:p>
          <a:p>
            <a:pPr indent="0" lvl="0" marL="0" rtl="0" algn="l">
              <a:spcBef>
                <a:spcPts val="0"/>
              </a:spcBef>
              <a:spcAft>
                <a:spcPts val="0"/>
              </a:spcAft>
              <a:buNone/>
            </a:pPr>
            <a:r>
              <a:rPr lang="en" sz="2650">
                <a:solidFill>
                  <a:srgbClr val="E3E3E3"/>
                </a:solidFill>
                <a:highlight>
                  <a:srgbClr val="282A2C"/>
                </a:highlight>
                <a:latin typeface="Courier New"/>
                <a:ea typeface="Courier New"/>
                <a:cs typeface="Courier New"/>
                <a:sym typeface="Courier New"/>
              </a:rPr>
              <a:t>TFs NOT in Perturb-seq : 649</a:t>
            </a:r>
            <a:endParaRPr sz="2650">
              <a:solidFill>
                <a:srgbClr val="E3E3E3"/>
              </a:solidFill>
              <a:highlight>
                <a:srgbClr val="282A2C"/>
              </a:highlight>
              <a:latin typeface="Courier New"/>
              <a:ea typeface="Courier New"/>
              <a:cs typeface="Courier New"/>
              <a:sym typeface="Courier New"/>
            </a:endParaRPr>
          </a:p>
          <a:p>
            <a:pPr indent="0" lvl="0" marL="0" rtl="0" algn="l">
              <a:spcBef>
                <a:spcPts val="0"/>
              </a:spcBef>
              <a:spcAft>
                <a:spcPts val="0"/>
              </a:spcAft>
              <a:buNone/>
            </a:pPr>
            <a:r>
              <a:rPr lang="en" sz="2650">
                <a:solidFill>
                  <a:srgbClr val="E3E3E3"/>
                </a:solidFill>
                <a:highlight>
                  <a:srgbClr val="282A2C"/>
                </a:highlight>
                <a:latin typeface="Courier New"/>
                <a:ea typeface="Courier New"/>
                <a:cs typeface="Courier New"/>
                <a:sym typeface="Courier New"/>
              </a:rPr>
              <a:t>% covered: 60.4%</a:t>
            </a:r>
            <a:endParaRPr sz="3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74015" lvl="0" marL="457200" rtl="0" algn="l">
              <a:lnSpc>
                <a:spcPct val="95000"/>
              </a:lnSpc>
              <a:spcBef>
                <a:spcPts val="0"/>
              </a:spcBef>
              <a:spcAft>
                <a:spcPts val="0"/>
              </a:spcAft>
              <a:buSzPts val="2290"/>
              <a:buChar char="-"/>
            </a:pPr>
            <a:r>
              <a:rPr lang="en" sz="2290"/>
              <a:t>Both have NFAT family (NFAT5, NFATC1, NFATC2, NFATC3)</a:t>
            </a:r>
            <a:endParaRPr sz="2290"/>
          </a:p>
          <a:p>
            <a:pPr indent="-374015" lvl="0" marL="457200" rtl="0" algn="l">
              <a:lnSpc>
                <a:spcPct val="95000"/>
              </a:lnSpc>
              <a:spcBef>
                <a:spcPts val="0"/>
              </a:spcBef>
              <a:spcAft>
                <a:spcPts val="0"/>
              </a:spcAft>
              <a:buSzPts val="2290"/>
              <a:buChar char="-"/>
            </a:pPr>
            <a:r>
              <a:rPr lang="en" sz="2290"/>
              <a:t>AP-1 Complex (FOS, FOSB..)</a:t>
            </a:r>
            <a:endParaRPr sz="2290"/>
          </a:p>
          <a:p>
            <a:pPr indent="-374015" lvl="0" marL="457200" rtl="0" algn="l">
              <a:lnSpc>
                <a:spcPct val="95000"/>
              </a:lnSpc>
              <a:spcBef>
                <a:spcPts val="0"/>
              </a:spcBef>
              <a:spcAft>
                <a:spcPts val="0"/>
              </a:spcAft>
              <a:buSzPts val="2290"/>
              <a:buChar char="-"/>
            </a:pPr>
            <a:r>
              <a:rPr lang="en" sz="2290"/>
              <a:t>NF-kB family (NFKB1, ..)</a:t>
            </a:r>
            <a:endParaRPr sz="2290"/>
          </a:p>
          <a:p>
            <a:pPr indent="-374015" lvl="0" marL="457200" rtl="0" algn="l">
              <a:lnSpc>
                <a:spcPct val="95000"/>
              </a:lnSpc>
              <a:spcBef>
                <a:spcPts val="0"/>
              </a:spcBef>
              <a:spcAft>
                <a:spcPts val="0"/>
              </a:spcAft>
              <a:buSzPts val="2290"/>
              <a:buChar char="-"/>
            </a:pPr>
            <a:r>
              <a:rPr lang="en" sz="2290"/>
              <a:t>IRF</a:t>
            </a:r>
            <a:endParaRPr sz="2290"/>
          </a:p>
          <a:p>
            <a:pPr indent="-374015" lvl="0" marL="457200" rtl="0" algn="l">
              <a:lnSpc>
                <a:spcPct val="95000"/>
              </a:lnSpc>
              <a:spcBef>
                <a:spcPts val="0"/>
              </a:spcBef>
              <a:spcAft>
                <a:spcPts val="0"/>
              </a:spcAft>
              <a:buSzPts val="2290"/>
              <a:buChar char="-"/>
            </a:pPr>
            <a:r>
              <a:rPr lang="en" sz="2290"/>
              <a:t>STAT</a:t>
            </a:r>
            <a:endParaRPr sz="2290"/>
          </a:p>
          <a:p>
            <a:pPr indent="-374015" lvl="0" marL="457200" rtl="0" algn="l">
              <a:lnSpc>
                <a:spcPct val="95000"/>
              </a:lnSpc>
              <a:spcBef>
                <a:spcPts val="0"/>
              </a:spcBef>
              <a:spcAft>
                <a:spcPts val="0"/>
              </a:spcAft>
              <a:buSzPts val="2290"/>
              <a:buChar char="-"/>
            </a:pPr>
            <a:r>
              <a:rPr lang="en" sz="2290"/>
              <a:t>RUNX</a:t>
            </a:r>
            <a:endParaRPr sz="2290"/>
          </a:p>
          <a:p>
            <a:pPr indent="-374015" lvl="0" marL="457200" rtl="0" algn="l">
              <a:lnSpc>
                <a:spcPct val="95000"/>
              </a:lnSpc>
              <a:spcBef>
                <a:spcPts val="0"/>
              </a:spcBef>
              <a:spcAft>
                <a:spcPts val="0"/>
              </a:spcAft>
              <a:buSzPts val="2290"/>
              <a:buChar char="-"/>
            </a:pPr>
            <a:r>
              <a:rPr lang="en" sz="2290"/>
              <a:t>EGR</a:t>
            </a:r>
            <a:endParaRPr sz="2290"/>
          </a:p>
        </p:txBody>
      </p:sp>
      <p:sp>
        <p:nvSpPr>
          <p:cNvPr id="225" name="Google Shape;225;p39"/>
          <p:cNvSpPr txBox="1"/>
          <p:nvPr/>
        </p:nvSpPr>
        <p:spPr>
          <a:xfrm>
            <a:off x="0" y="243850"/>
            <a:ext cx="8893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TFs in Perturb-seq (from </a:t>
            </a:r>
            <a:r>
              <a:rPr i="1" lang="en" sz="2800">
                <a:solidFill>
                  <a:schemeClr val="dk1"/>
                </a:solidFill>
              </a:rPr>
              <a:t>humanTFs_1639_clean.csv</a:t>
            </a:r>
            <a:r>
              <a:rPr lang="en" sz="2800">
                <a:solidFill>
                  <a:schemeClr val="dk1"/>
                </a:solidFill>
              </a:rPr>
              <a:t>)</a:t>
            </a:r>
            <a:endParaRPr sz="28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11</a:t>
            </a:r>
            <a:endParaRPr/>
          </a:p>
        </p:txBody>
      </p:sp>
      <p:sp>
        <p:nvSpPr>
          <p:cNvPr id="231" name="Google Shape;23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Create proper workflow for how the GRNs are created</a:t>
            </a:r>
            <a:endParaRPr/>
          </a:p>
          <a:p>
            <a:pPr indent="-325755" lvl="0" marL="457200" rtl="0" algn="l">
              <a:spcBef>
                <a:spcPts val="0"/>
              </a:spcBef>
              <a:spcAft>
                <a:spcPts val="0"/>
              </a:spcAft>
              <a:buSzPct val="100000"/>
              <a:buChar char="-"/>
            </a:pPr>
            <a:r>
              <a:rPr lang="en"/>
              <a:t>Try GRN across both (and modify the cell argument to not distinguish between type, and then I Distinguish cell type)</a:t>
            </a:r>
            <a:endParaRPr/>
          </a:p>
          <a:p>
            <a:pPr indent="-304165" lvl="1" marL="914400" rtl="0" algn="l">
              <a:spcBef>
                <a:spcPts val="0"/>
              </a:spcBef>
              <a:spcAft>
                <a:spcPts val="0"/>
              </a:spcAft>
              <a:buSzPct val="100000"/>
              <a:buChar char="-"/>
            </a:pPr>
            <a:r>
              <a:rPr b="1" lang="en"/>
              <a:t>Ask author</a:t>
            </a:r>
            <a:endParaRPr/>
          </a:p>
          <a:p>
            <a:pPr indent="-325755" lvl="0" marL="457200" rtl="0" algn="l">
              <a:spcBef>
                <a:spcPts val="0"/>
              </a:spcBef>
              <a:spcAft>
                <a:spcPts val="0"/>
              </a:spcAft>
              <a:buSzPct val="100000"/>
              <a:buChar char="-"/>
            </a:pPr>
            <a:r>
              <a:rPr lang="en"/>
              <a:t>How do you analyze this matrix,</a:t>
            </a:r>
            <a:endParaRPr/>
          </a:p>
          <a:p>
            <a:pPr indent="-304165" lvl="1" marL="914400" rtl="0" algn="l">
              <a:spcBef>
                <a:spcPts val="0"/>
              </a:spcBef>
              <a:spcAft>
                <a:spcPts val="0"/>
              </a:spcAft>
              <a:buSzPct val="100000"/>
              <a:buChar char="-"/>
            </a:pPr>
            <a:r>
              <a:rPr lang="en"/>
              <a:t>Organize things better </a:t>
            </a:r>
            <a:endParaRPr/>
          </a:p>
          <a:p>
            <a:pPr indent="-325755" lvl="0" marL="457200" rtl="0" algn="l">
              <a:spcBef>
                <a:spcPts val="0"/>
              </a:spcBef>
              <a:spcAft>
                <a:spcPts val="0"/>
              </a:spcAft>
              <a:buSzPct val="100000"/>
              <a:buChar char="-"/>
            </a:pPr>
            <a:r>
              <a:rPr lang="en"/>
              <a:t>Check how many TFs are also in the rest_act</a:t>
            </a:r>
            <a:endParaRPr/>
          </a:p>
          <a:p>
            <a:pPr indent="-304165" lvl="1" marL="914400" rtl="0" algn="l">
              <a:spcBef>
                <a:spcPts val="0"/>
              </a:spcBef>
              <a:spcAft>
                <a:spcPts val="0"/>
              </a:spcAft>
              <a:buSzPct val="100000"/>
              <a:buChar char="-"/>
            </a:pPr>
            <a:r>
              <a:rPr lang="en"/>
              <a:t>Human TFs + Perturb seq + cd4 (our data)</a:t>
            </a:r>
            <a:endParaRPr/>
          </a:p>
          <a:p>
            <a:pPr indent="-304165" lvl="1" marL="914400" rtl="0" algn="l">
              <a:spcBef>
                <a:spcPts val="0"/>
              </a:spcBef>
              <a:spcAft>
                <a:spcPts val="0"/>
              </a:spcAft>
              <a:buSzPct val="100000"/>
              <a:buChar char="-"/>
            </a:pPr>
            <a:r>
              <a:rPr lang="en"/>
              <a:t>Human TFs + Perturb seq + cd8 (our data)</a:t>
            </a:r>
            <a:endParaRPr/>
          </a:p>
          <a:p>
            <a:pPr indent="-325755" lvl="0" marL="457200" rtl="0" algn="l">
              <a:spcBef>
                <a:spcPts val="0"/>
              </a:spcBef>
              <a:spcAft>
                <a:spcPts val="0"/>
              </a:spcAft>
              <a:buSzPct val="100000"/>
              <a:buChar char="-"/>
            </a:pPr>
            <a:r>
              <a:rPr lang="en"/>
              <a:t>Use geneformer perturbation (things move to resting/acting) tells you direction, not which genes are getting perturbation (no log2fold change)</a:t>
            </a:r>
            <a:endParaRPr/>
          </a:p>
          <a:p>
            <a:pPr indent="-325755" lvl="0" marL="457200" rtl="0" algn="l">
              <a:spcBef>
                <a:spcPts val="0"/>
              </a:spcBef>
              <a:spcAft>
                <a:spcPts val="0"/>
              </a:spcAft>
              <a:buSzPct val="100000"/>
              <a:buChar char="-"/>
            </a:pPr>
            <a:r>
              <a:rPr lang="en"/>
              <a:t>Extract the genes that chane in expression or the 990 only in the resting cell/active cells </a:t>
            </a:r>
            <a:r>
              <a:rPr b="1" lang="en"/>
              <a:t>WHAT KIND OF CELL STATES ARE PRESENT IN WHAT PERTRUBATON</a:t>
            </a:r>
            <a:endParaRPr b="1"/>
          </a:p>
          <a:p>
            <a:pPr indent="-304165" lvl="1" marL="914400" rtl="0" algn="l">
              <a:spcBef>
                <a:spcPts val="0"/>
              </a:spcBef>
              <a:spcAft>
                <a:spcPts val="0"/>
              </a:spcAft>
              <a:buSzPct val="100000"/>
              <a:buChar char="-"/>
            </a:pPr>
            <a:r>
              <a:rPr b="1" lang="en"/>
              <a:t>Basically you need ot get the perturb seq and verify its ground truth in respect to outline</a:t>
            </a:r>
            <a:endParaRPr b="1"/>
          </a:p>
          <a:p>
            <a:pPr indent="-304165" lvl="1" marL="914400" rtl="0" algn="l">
              <a:spcBef>
                <a:spcPts val="0"/>
              </a:spcBef>
              <a:spcAft>
                <a:spcPts val="0"/>
              </a:spcAft>
              <a:buSzPct val="100000"/>
              <a:buChar char="-"/>
            </a:pPr>
            <a:r>
              <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6: Update</a:t>
            </a:r>
            <a:endParaRPr>
              <a:solidFill>
                <a:srgbClr val="FF0000"/>
              </a:solidFill>
            </a:endParaRPr>
          </a:p>
        </p:txBody>
      </p:sp>
      <p:sp>
        <p:nvSpPr>
          <p:cNvPr id="237" name="Google Shape;237;p41"/>
          <p:cNvSpPr txBox="1"/>
          <p:nvPr/>
        </p:nvSpPr>
        <p:spPr>
          <a:xfrm>
            <a:off x="370425" y="1017725"/>
            <a:ext cx="7822800" cy="211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2700">
                <a:solidFill>
                  <a:schemeClr val="dk1"/>
                </a:solidFill>
              </a:rPr>
              <a:t>Goals 1 &amp; 2 are making progress</a:t>
            </a:r>
            <a:endParaRPr i="1" sz="2700">
              <a:solidFill>
                <a:schemeClr val="dk1"/>
              </a:solidFill>
            </a:endParaRPr>
          </a:p>
          <a:p>
            <a:pPr indent="0" lvl="0" marL="0" rtl="0" algn="l">
              <a:spcBef>
                <a:spcPts val="0"/>
              </a:spcBef>
              <a:spcAft>
                <a:spcPts val="0"/>
              </a:spcAft>
              <a:buClr>
                <a:schemeClr val="dk1"/>
              </a:buClr>
              <a:buSzPts val="1100"/>
              <a:buFont typeface="Arial"/>
              <a:buNone/>
            </a:pPr>
            <a:r>
              <a:t/>
            </a:r>
            <a:endParaRPr i="1" sz="2700">
              <a:solidFill>
                <a:schemeClr val="dk1"/>
              </a:solidFill>
            </a:endParaRPr>
          </a:p>
          <a:p>
            <a:pPr indent="0" lvl="0" marL="0" rtl="0" algn="l">
              <a:spcBef>
                <a:spcPts val="0"/>
              </a:spcBef>
              <a:spcAft>
                <a:spcPts val="0"/>
              </a:spcAft>
              <a:buClr>
                <a:schemeClr val="dk1"/>
              </a:buClr>
              <a:buSzPts val="1100"/>
              <a:buFont typeface="Arial"/>
              <a:buNone/>
            </a:pPr>
            <a:r>
              <a:t/>
            </a:r>
            <a:endParaRPr i="1" sz="2700">
              <a:solidFill>
                <a:schemeClr val="dk1"/>
              </a:solidFill>
            </a:endParaRPr>
          </a:p>
          <a:p>
            <a:pPr indent="0" lvl="0" marL="0" rtl="0" algn="l">
              <a:lnSpc>
                <a:spcPct val="115000"/>
              </a:lnSpc>
              <a:spcBef>
                <a:spcPts val="1200"/>
              </a:spcBef>
              <a:spcAft>
                <a:spcPts val="0"/>
              </a:spcAft>
              <a:buNone/>
            </a:pPr>
            <a:r>
              <a:t/>
            </a:r>
            <a:endParaRPr i="1" sz="1100">
              <a:solidFill>
                <a:schemeClr val="dk1"/>
              </a:solidFill>
            </a:endParaRPr>
          </a:p>
          <a:p>
            <a:pPr indent="0" lvl="0" marL="0" rtl="0" algn="l">
              <a:lnSpc>
                <a:spcPct val="115000"/>
              </a:lnSpc>
              <a:spcBef>
                <a:spcPts val="1200"/>
              </a:spcBef>
              <a:spcAft>
                <a:spcPts val="1200"/>
              </a:spcAft>
              <a:buNone/>
            </a:pPr>
            <a:r>
              <a:t/>
            </a:r>
            <a:endParaRPr i="1" sz="12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6: Update (Goal 1)</a:t>
            </a:r>
            <a:endParaRPr>
              <a:solidFill>
                <a:srgbClr val="FF0000"/>
              </a:solidFill>
            </a:endParaRPr>
          </a:p>
        </p:txBody>
      </p:sp>
      <p:sp>
        <p:nvSpPr>
          <p:cNvPr id="243" name="Google Shape;243;p42"/>
          <p:cNvSpPr txBox="1"/>
          <p:nvPr/>
        </p:nvSpPr>
        <p:spPr>
          <a:xfrm>
            <a:off x="370425" y="1017725"/>
            <a:ext cx="7822800" cy="441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000">
                <a:solidFill>
                  <a:schemeClr val="dk1"/>
                </a:solidFill>
              </a:rPr>
              <a:t>Finding candidates TFs </a:t>
            </a:r>
            <a:endParaRPr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 sz="2000">
                <a:solidFill>
                  <a:schemeClr val="dk1"/>
                </a:solidFill>
              </a:rPr>
              <a:t>pySCENIC</a:t>
            </a:r>
            <a:r>
              <a:rPr lang="en" sz="2000">
                <a:solidFill>
                  <a:schemeClr val="dk1"/>
                </a:solidFill>
              </a:rPr>
              <a:t>-Net </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Regulons extracted from r</a:t>
            </a:r>
            <a:r>
              <a:rPr i="1" lang="en" sz="2000">
                <a:solidFill>
                  <a:schemeClr val="dk1"/>
                </a:solidFill>
              </a:rPr>
              <a:t>egulons_mc9nr_withpruning.csv</a:t>
            </a:r>
            <a:endParaRPr i="1"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Created </a:t>
            </a:r>
            <a:r>
              <a:rPr lang="en" sz="2000" u="sng">
                <a:solidFill>
                  <a:schemeClr val="hlink"/>
                </a:solidFill>
                <a:hlinkClick r:id="rId4"/>
              </a:rPr>
              <a:t>pySCENIC-Net</a:t>
            </a:r>
            <a:r>
              <a:rPr lang="en" sz="2000">
                <a:solidFill>
                  <a:schemeClr val="dk1"/>
                </a:solidFill>
              </a:rPr>
              <a:t>: 7,643 edges, 40 candidate TFs, 5,314 unique target genes</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Candidate TFs (40) were drawn from top 20 </a:t>
            </a:r>
            <a:r>
              <a:rPr lang="en" sz="2000" u="sng">
                <a:solidFill>
                  <a:schemeClr val="hlink"/>
                </a:solidFill>
                <a:hlinkClick r:id="rId5"/>
              </a:rPr>
              <a:t>deltaRSS</a:t>
            </a:r>
            <a:r>
              <a:rPr lang="en" sz="2000">
                <a:solidFill>
                  <a:schemeClr val="dk1"/>
                </a:solidFill>
              </a:rPr>
              <a:t> [act - rest]</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Perturb-seq cross check resulted in 23/40 candidates having quality knockdown data</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 sz="1100">
                <a:solidFill>
                  <a:schemeClr val="dk1"/>
                </a:solidFill>
              </a:rPr>
              <a:t>Saved: </a:t>
            </a:r>
            <a:r>
              <a:rPr lang="en" sz="1100">
                <a:solidFill>
                  <a:srgbClr val="188038"/>
                </a:solidFill>
                <a:latin typeface="Roboto Mono"/>
                <a:ea typeface="Roboto Mono"/>
                <a:cs typeface="Roboto Mono"/>
                <a:sym typeface="Roboto Mono"/>
              </a:rPr>
              <a:t>candidate_tfs_pyscenic_targets.csv</a:t>
            </a:r>
            <a:r>
              <a:rPr lang="en" sz="1100">
                <a:solidFill>
                  <a:schemeClr val="dk1"/>
                </a:solidFill>
              </a:rPr>
              <a:t>, </a:t>
            </a:r>
            <a:r>
              <a:rPr lang="en" sz="1100">
                <a:solidFill>
                  <a:srgbClr val="188038"/>
                </a:solidFill>
                <a:latin typeface="Roboto Mono"/>
                <a:ea typeface="Roboto Mono"/>
                <a:cs typeface="Roboto Mono"/>
                <a:sym typeface="Roboto Mono"/>
              </a:rPr>
              <a:t>candidate_tfs_perturbnet_targets.csv</a:t>
            </a:r>
            <a:endParaRPr sz="2000">
              <a:solidFill>
                <a:schemeClr val="dk1"/>
              </a:solidFill>
            </a:endParaRPr>
          </a:p>
          <a:p>
            <a:pPr indent="0" lvl="0" marL="0" rtl="0" algn="l">
              <a:lnSpc>
                <a:spcPct val="115000"/>
              </a:lnSpc>
              <a:spcBef>
                <a:spcPts val="1200"/>
              </a:spcBef>
              <a:spcAft>
                <a:spcPts val="1200"/>
              </a:spcAft>
              <a:buNone/>
            </a:pPr>
            <a:r>
              <a:t/>
            </a:r>
            <a:endParaRPr i="1" sz="12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del(RSS) Plots [pySCENIC]</a:t>
            </a:r>
            <a:endParaRPr>
              <a:solidFill>
                <a:srgbClr val="FF0000"/>
              </a:solidFill>
            </a:endParaRPr>
          </a:p>
        </p:txBody>
      </p:sp>
      <p:sp>
        <p:nvSpPr>
          <p:cNvPr id="249" name="Google Shape;249;p43"/>
          <p:cNvSpPr txBox="1"/>
          <p:nvPr/>
        </p:nvSpPr>
        <p:spPr>
          <a:xfrm>
            <a:off x="1744975" y="1661175"/>
            <a:ext cx="8576400" cy="6465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SzPts val="3000"/>
              <a:buChar char="-"/>
            </a:pPr>
            <a:r>
              <a:t/>
            </a:r>
            <a:endParaRPr sz="3000"/>
          </a:p>
        </p:txBody>
      </p:sp>
      <p:pic>
        <p:nvPicPr>
          <p:cNvPr id="250" name="Google Shape;250;p43"/>
          <p:cNvPicPr preferRelativeResize="0"/>
          <p:nvPr/>
        </p:nvPicPr>
        <p:blipFill>
          <a:blip r:embed="rId4">
            <a:alphaModFix/>
          </a:blip>
          <a:stretch>
            <a:fillRect/>
          </a:stretch>
        </p:blipFill>
        <p:spPr>
          <a:xfrm>
            <a:off x="69575" y="1362050"/>
            <a:ext cx="9004849" cy="317666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6: Update (Goal 1)</a:t>
            </a:r>
            <a:endParaRPr>
              <a:solidFill>
                <a:srgbClr val="FF0000"/>
              </a:solidFill>
            </a:endParaRPr>
          </a:p>
        </p:txBody>
      </p:sp>
      <p:sp>
        <p:nvSpPr>
          <p:cNvPr id="256" name="Google Shape;256;p44"/>
          <p:cNvSpPr txBox="1"/>
          <p:nvPr/>
        </p:nvSpPr>
        <p:spPr>
          <a:xfrm>
            <a:off x="370425" y="1017725"/>
            <a:ext cx="7822800" cy="17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000">
                <a:solidFill>
                  <a:schemeClr val="dk1"/>
                </a:solidFill>
              </a:rPr>
              <a:t>Finding candidates TFs </a:t>
            </a:r>
            <a:endParaRPr sz="20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 sz="2000">
                <a:solidFill>
                  <a:schemeClr val="dk1"/>
                </a:solidFill>
              </a:rPr>
              <a:t>scPRINT</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Contacted author on which “how” to use for GRN</a:t>
            </a:r>
            <a:endParaRPr sz="2000">
              <a:solidFill>
                <a:schemeClr val="dk1"/>
              </a:solidFill>
            </a:endParaRPr>
          </a:p>
          <a:p>
            <a:pPr indent="0" lvl="0" marL="0" rtl="0" algn="l">
              <a:lnSpc>
                <a:spcPct val="115000"/>
              </a:lnSpc>
              <a:spcBef>
                <a:spcPts val="1200"/>
              </a:spcBef>
              <a:spcAft>
                <a:spcPts val="1200"/>
              </a:spcAft>
              <a:buNone/>
            </a:pPr>
            <a:r>
              <a:t/>
            </a:r>
            <a:endParaRPr i="1" sz="12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6: Update (Goal 2)</a:t>
            </a:r>
            <a:endParaRPr>
              <a:solidFill>
                <a:srgbClr val="FF0000"/>
              </a:solidFill>
            </a:endParaRPr>
          </a:p>
        </p:txBody>
      </p:sp>
      <p:sp>
        <p:nvSpPr>
          <p:cNvPr id="262" name="Google Shape;262;p45"/>
          <p:cNvSpPr txBox="1"/>
          <p:nvPr/>
        </p:nvSpPr>
        <p:spPr>
          <a:xfrm>
            <a:off x="370425" y="1017725"/>
            <a:ext cx="7822800" cy="33555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1200"/>
              </a:spcBef>
              <a:spcAft>
                <a:spcPts val="0"/>
              </a:spcAft>
              <a:buClr>
                <a:schemeClr val="dk1"/>
              </a:buClr>
              <a:buSzPts val="2000"/>
              <a:buChar char="-"/>
            </a:pPr>
            <a:r>
              <a:rPr lang="en" sz="2000">
                <a:solidFill>
                  <a:schemeClr val="dk1"/>
                </a:solidFill>
              </a:rPr>
              <a:t>Building Perturb-Net</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Loaded perturb-seq dataset</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Qualify</a:t>
            </a:r>
            <a:r>
              <a:rPr lang="en" sz="2000">
                <a:solidFill>
                  <a:schemeClr val="dk1"/>
                </a:solidFill>
              </a:rPr>
              <a:t> filtering (only included ontarget_significant == True, offtarget_flag == False for no off-target contamination </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Edge extraction with |logFC| &gt; 0.5, adj_pval &lt;0.05, self-edges removed [.5 is standard.. This is a tunable parameter]</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 sz="2000">
                <a:solidFill>
                  <a:schemeClr val="dk1"/>
                </a:solidFill>
              </a:rPr>
              <a:t>Saved in </a:t>
            </a:r>
            <a:r>
              <a:rPr lang="en" sz="2000" u="sng">
                <a:solidFill>
                  <a:schemeClr val="hlink"/>
                </a:solidFill>
                <a:hlinkClick r:id="rId3"/>
              </a:rPr>
              <a:t>datasets</a:t>
            </a:r>
            <a:r>
              <a:rPr lang="en" sz="2000">
                <a:solidFill>
                  <a:schemeClr val="dk1"/>
                </a:solidFill>
              </a:rPr>
              <a:t> as </a:t>
            </a:r>
            <a:r>
              <a:rPr lang="en" sz="1100">
                <a:solidFill>
                  <a:srgbClr val="188038"/>
                </a:solidFill>
                <a:latin typeface="Roboto Mono"/>
                <a:ea typeface="Roboto Mono"/>
                <a:cs typeface="Roboto Mono"/>
                <a:sym typeface="Roboto Mono"/>
              </a:rPr>
              <a:t>perturb_net_tfs_only.csv</a:t>
            </a:r>
            <a:r>
              <a:rPr lang="en" sz="1100">
                <a:solidFill>
                  <a:schemeClr val="dk1"/>
                </a:solidFill>
              </a:rPr>
              <a:t>, </a:t>
            </a:r>
            <a:r>
              <a:rPr lang="en" sz="1100">
                <a:solidFill>
                  <a:srgbClr val="188038"/>
                </a:solidFill>
                <a:latin typeface="Roboto Mono"/>
                <a:ea typeface="Roboto Mono"/>
                <a:cs typeface="Roboto Mono"/>
                <a:sym typeface="Roboto Mono"/>
              </a:rPr>
              <a:t>perturb_net_tf_summary.csv</a:t>
            </a:r>
            <a:endParaRPr sz="2000">
              <a:solidFill>
                <a:schemeClr val="dk1"/>
              </a:solidFill>
            </a:endParaRPr>
          </a:p>
          <a:p>
            <a:pPr indent="0" lvl="0" marL="0" rtl="0" algn="l">
              <a:lnSpc>
                <a:spcPct val="115000"/>
              </a:lnSpc>
              <a:spcBef>
                <a:spcPts val="1200"/>
              </a:spcBef>
              <a:spcAft>
                <a:spcPts val="1200"/>
              </a:spcAft>
              <a:buNone/>
            </a:pPr>
            <a:r>
              <a:t/>
            </a:r>
            <a:endParaRPr i="1" sz="12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6: Next Steps</a:t>
            </a:r>
            <a:endParaRPr>
              <a:solidFill>
                <a:srgbClr val="FF0000"/>
              </a:solidFill>
            </a:endParaRPr>
          </a:p>
        </p:txBody>
      </p:sp>
      <p:sp>
        <p:nvSpPr>
          <p:cNvPr id="268" name="Google Shape;268;p46"/>
          <p:cNvSpPr txBox="1"/>
          <p:nvPr/>
        </p:nvSpPr>
        <p:spPr>
          <a:xfrm>
            <a:off x="370425" y="1017725"/>
            <a:ext cx="7822800" cy="29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Goal 1: refine scPRINT and get their candidate TFs as well + get the edges and make </a:t>
            </a:r>
            <a:r>
              <a:rPr b="1" lang="en" sz="2000">
                <a:solidFill>
                  <a:schemeClr val="dk1"/>
                </a:solidFill>
              </a:rPr>
              <a:t>scPRINT2-Net</a:t>
            </a:r>
            <a:endParaRPr sz="2000">
              <a:solidFill>
                <a:schemeClr val="dk1"/>
              </a:solidFill>
            </a:endParaRPr>
          </a:p>
          <a:p>
            <a:pPr indent="0" lvl="0" marL="0" rtl="0" algn="l">
              <a:lnSpc>
                <a:spcPct val="115000"/>
              </a:lnSpc>
              <a:spcBef>
                <a:spcPts val="1200"/>
              </a:spcBef>
              <a:spcAft>
                <a:spcPts val="0"/>
              </a:spcAft>
              <a:buNone/>
            </a:pPr>
            <a:r>
              <a:rPr lang="en" sz="2000">
                <a:solidFill>
                  <a:schemeClr val="dk1"/>
                </a:solidFill>
              </a:rPr>
              <a:t>Goal 2: filter down with scPRINT candidate as well for </a:t>
            </a:r>
            <a:r>
              <a:rPr b="1" lang="en" sz="2000">
                <a:solidFill>
                  <a:schemeClr val="dk1"/>
                </a:solidFill>
              </a:rPr>
              <a:t>perturb-Net</a:t>
            </a:r>
            <a:r>
              <a:rPr lang="en" sz="2000">
                <a:solidFill>
                  <a:schemeClr val="dk1"/>
                </a:solidFill>
              </a:rPr>
              <a:t>, verify against literature and perhaps retune the exact parameter for logFC thresholds</a:t>
            </a:r>
            <a:endParaRPr sz="2000">
              <a:solidFill>
                <a:schemeClr val="dk1"/>
              </a:solidFill>
            </a:endParaRPr>
          </a:p>
          <a:p>
            <a:pPr indent="0" lvl="0" marL="0" rtl="0" algn="l">
              <a:lnSpc>
                <a:spcPct val="115000"/>
              </a:lnSpc>
              <a:spcBef>
                <a:spcPts val="1200"/>
              </a:spcBef>
              <a:spcAft>
                <a:spcPts val="1200"/>
              </a:spcAft>
              <a:buNone/>
            </a:pPr>
            <a:r>
              <a:rPr lang="en" sz="2000">
                <a:solidFill>
                  <a:schemeClr val="dk1"/>
                </a:solidFill>
              </a:rPr>
              <a:t>Goal 3: Edge overlap with pySCENIC + scPRINT2 + PeturbNet per TF?</a:t>
            </a:r>
            <a:endParaRPr sz="20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perturbNet</a:t>
            </a:r>
            <a:endParaRPr>
              <a:solidFill>
                <a:srgbClr val="FF0000"/>
              </a:solidFill>
            </a:endParaRPr>
          </a:p>
        </p:txBody>
      </p:sp>
      <p:sp>
        <p:nvSpPr>
          <p:cNvPr id="274" name="Google Shape;274;p47"/>
          <p:cNvSpPr txBox="1"/>
          <p:nvPr/>
        </p:nvSpPr>
        <p:spPr>
          <a:xfrm>
            <a:off x="636325" y="1177100"/>
            <a:ext cx="72855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t>Goals 1 &amp; 2 are making progress</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7</a:t>
            </a:r>
            <a:endParaRPr/>
          </a:p>
        </p:txBody>
      </p:sp>
      <p:sp>
        <p:nvSpPr>
          <p:cNvPr id="280" name="Google Shape;280;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Create </a:t>
            </a:r>
            <a:r>
              <a:rPr lang="en"/>
              <a:t>scenic</a:t>
            </a:r>
            <a:r>
              <a:rPr lang="en"/>
              <a:t> Net with more columns (in updated file), </a:t>
            </a:r>
            <a:endParaRPr/>
          </a:p>
          <a:p>
            <a:pPr indent="-342900" lvl="0" marL="457200" rtl="0" algn="l">
              <a:spcBef>
                <a:spcPts val="0"/>
              </a:spcBef>
              <a:spcAft>
                <a:spcPts val="0"/>
              </a:spcAft>
              <a:buSzPts val="1800"/>
              <a:buChar char="-"/>
            </a:pPr>
            <a:r>
              <a:rPr lang="en"/>
              <a:t>Check how RSS is calculated </a:t>
            </a:r>
            <a:endParaRPr/>
          </a:p>
          <a:p>
            <a:pPr indent="-342900" lvl="0" marL="457200" rtl="0" algn="l">
              <a:spcBef>
                <a:spcPts val="0"/>
              </a:spcBef>
              <a:spcAft>
                <a:spcPts val="0"/>
              </a:spcAft>
              <a:buSzPts val="1800"/>
              <a:buChar char="-"/>
            </a:pPr>
            <a:r>
              <a:rPr lang="en"/>
              <a:t>Figure out </a:t>
            </a:r>
            <a:r>
              <a:rPr lang="en"/>
              <a:t>which scPrint “how” to use and with geneList, look through all hyperparameyers</a:t>
            </a:r>
            <a:endParaRPr/>
          </a:p>
          <a:p>
            <a:pPr indent="-342900" lvl="0" marL="457200" rtl="0" algn="l">
              <a:spcBef>
                <a:spcPts val="0"/>
              </a:spcBef>
              <a:spcAft>
                <a:spcPts val="0"/>
              </a:spcAft>
              <a:buSzPts val="1800"/>
              <a:buChar char="-"/>
            </a:pPr>
            <a:r>
              <a:rPr lang="en"/>
              <a:t>Separate rest/act in perturb-net (how many in rest/act) (8hr = active, resting)</a:t>
            </a:r>
            <a:endParaRPr/>
          </a:p>
          <a:p>
            <a:pPr indent="-342900" lvl="0" marL="457200" rtl="0" algn="l">
              <a:spcBef>
                <a:spcPts val="0"/>
              </a:spcBef>
              <a:spcAft>
                <a:spcPts val="0"/>
              </a:spcAft>
              <a:buSzPts val="1800"/>
              <a:buChar char="-"/>
            </a:pPr>
            <a:r>
              <a:rPr lang="en"/>
              <a:t>In perturb-seq make perturb-net (refine for next meeting)</a:t>
            </a:r>
            <a:endParaRPr/>
          </a:p>
        </p:txBody>
      </p:sp>
      <p:pic>
        <p:nvPicPr>
          <p:cNvPr id="281" name="Google Shape;281;p48" title="Screenshot 2026-04-07 at 3.42.28 PM.png"/>
          <p:cNvPicPr preferRelativeResize="0"/>
          <p:nvPr/>
        </p:nvPicPr>
        <p:blipFill>
          <a:blip r:embed="rId3">
            <a:alphaModFix/>
          </a:blip>
          <a:stretch>
            <a:fillRect/>
          </a:stretch>
        </p:blipFill>
        <p:spPr>
          <a:xfrm>
            <a:off x="586203" y="3149650"/>
            <a:ext cx="3936399" cy="35566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11: refining scenic_net</a:t>
            </a:r>
            <a:endParaRPr/>
          </a:p>
        </p:txBody>
      </p:sp>
      <p:sp>
        <p:nvSpPr>
          <p:cNvPr id="287" name="Google Shape;287;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Created pyscenic_net_edges.csv, </a:t>
            </a:r>
            <a:endParaRPr/>
          </a:p>
          <a:p>
            <a:pPr indent="-317500" lvl="1" marL="1371600" rtl="0" algn="l">
              <a:spcBef>
                <a:spcPts val="0"/>
              </a:spcBef>
              <a:spcAft>
                <a:spcPts val="0"/>
              </a:spcAft>
              <a:buSzPts val="1400"/>
              <a:buAutoNum type="alphaLcPeriod"/>
            </a:pPr>
            <a:r>
              <a:rPr lang="en"/>
              <a:t>Started with pySCENIC regulon output (reg) where each row is (TF, motif) pair. Columns get renamed.</a:t>
            </a:r>
            <a:endParaRPr/>
          </a:p>
          <a:p>
            <a:pPr indent="-317500" lvl="1" marL="1371600" rtl="0" algn="l">
              <a:spcBef>
                <a:spcPts val="0"/>
              </a:spcBef>
              <a:spcAft>
                <a:spcPts val="0"/>
              </a:spcAft>
              <a:buSzPts val="1400"/>
              <a:buAutoNum type="alphaLcPeriod"/>
            </a:pPr>
            <a:r>
              <a:rPr lang="en"/>
              <a:t>TargetGenes is parsed and flattened into a long list of {tf, target, importance}</a:t>
            </a:r>
            <a:endParaRPr/>
          </a:p>
          <a:p>
            <a:pPr indent="-317500" lvl="1" marL="1371600" rtl="0" algn="l">
              <a:spcBef>
                <a:spcPts val="0"/>
              </a:spcBef>
              <a:spcAft>
                <a:spcPts val="0"/>
              </a:spcAft>
              <a:buSzPts val="1400"/>
              <a:buAutoNum type="alphaLcPeriod"/>
            </a:pPr>
            <a:r>
              <a:rPr lang="en"/>
              <a:t>Remove duplicates and keep the max importance per pair </a:t>
            </a:r>
            <a:endParaRPr/>
          </a:p>
          <a:p>
            <a:pPr indent="-317500" lvl="1" marL="1371600" rtl="0" algn="l">
              <a:spcBef>
                <a:spcPts val="0"/>
              </a:spcBef>
              <a:spcAft>
                <a:spcPts val="0"/>
              </a:spcAft>
              <a:buSzPts val="1400"/>
              <a:buAutoNum type="alphaLcPeriod"/>
            </a:pPr>
            <a:r>
              <a:rPr lang="en"/>
              <a:t>Remove self loops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914400" rtl="0" algn="l">
              <a:spcBef>
                <a:spcPts val="1200"/>
              </a:spcBef>
              <a:spcAft>
                <a:spcPts val="0"/>
              </a:spcAft>
              <a:buSzPts val="1800"/>
              <a:buAutoNum type="arabicPeriod"/>
            </a:pPr>
            <a:r>
              <a:rPr lang="en"/>
              <a:t>Created scenic_net_full</a:t>
            </a:r>
            <a:endParaRPr/>
          </a:p>
        </p:txBody>
      </p:sp>
      <p:pic>
        <p:nvPicPr>
          <p:cNvPr id="288" name="Google Shape;288;p49" title="Screenshot 2026-04-12 at 2.34.08 PM.png"/>
          <p:cNvPicPr preferRelativeResize="0"/>
          <p:nvPr/>
        </p:nvPicPr>
        <p:blipFill>
          <a:blip r:embed="rId3">
            <a:alphaModFix/>
          </a:blip>
          <a:stretch>
            <a:fillRect/>
          </a:stretch>
        </p:blipFill>
        <p:spPr>
          <a:xfrm>
            <a:off x="4155277" y="2803107"/>
            <a:ext cx="3651301" cy="267244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11: refining scenic_net</a:t>
            </a:r>
            <a:endParaRPr/>
          </a:p>
        </p:txBody>
      </p:sp>
      <p:sp>
        <p:nvSpPr>
          <p:cNvPr id="294" name="Google Shape;294;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Created pyscenic_net_edges.csv, </a:t>
            </a:r>
            <a:endParaRPr/>
          </a:p>
          <a:p>
            <a:pPr indent="-317500" lvl="1" marL="1371600" rtl="0" algn="l">
              <a:spcBef>
                <a:spcPts val="0"/>
              </a:spcBef>
              <a:spcAft>
                <a:spcPts val="0"/>
              </a:spcAft>
              <a:buSzPts val="1400"/>
              <a:buAutoNum type="alphaLcPeriod"/>
            </a:pPr>
            <a:r>
              <a:rPr lang="en"/>
              <a:t>Started with pySCENIC regulon output (reg) where each row is (TF, motif) pair. Columns get renamed.</a:t>
            </a:r>
            <a:endParaRPr/>
          </a:p>
          <a:p>
            <a:pPr indent="-317500" lvl="1" marL="1371600" rtl="0" algn="l">
              <a:spcBef>
                <a:spcPts val="0"/>
              </a:spcBef>
              <a:spcAft>
                <a:spcPts val="0"/>
              </a:spcAft>
              <a:buSzPts val="1400"/>
              <a:buAutoNum type="alphaLcPeriod"/>
            </a:pPr>
            <a:r>
              <a:rPr lang="en"/>
              <a:t>TargetGenes is parsed and flattened into a long list of {tf, target, importance}</a:t>
            </a:r>
            <a:endParaRPr/>
          </a:p>
          <a:p>
            <a:pPr indent="-317500" lvl="1" marL="1371600" rtl="0" algn="l">
              <a:spcBef>
                <a:spcPts val="0"/>
              </a:spcBef>
              <a:spcAft>
                <a:spcPts val="0"/>
              </a:spcAft>
              <a:buSzPts val="1400"/>
              <a:buAutoNum type="alphaLcPeriod"/>
            </a:pPr>
            <a:r>
              <a:rPr lang="en"/>
              <a:t>Remove duplicates and keep the max importance per pair </a:t>
            </a:r>
            <a:endParaRPr/>
          </a:p>
          <a:p>
            <a:pPr indent="-317500" lvl="1" marL="1371600" rtl="0" algn="l">
              <a:spcBef>
                <a:spcPts val="0"/>
              </a:spcBef>
              <a:spcAft>
                <a:spcPts val="0"/>
              </a:spcAft>
              <a:buSzPts val="1400"/>
              <a:buAutoNum type="alphaLcPeriod"/>
            </a:pPr>
            <a:r>
              <a:rPr lang="en"/>
              <a:t>Remove self loops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914400" rtl="0" algn="l">
              <a:spcBef>
                <a:spcPts val="1200"/>
              </a:spcBef>
              <a:spcAft>
                <a:spcPts val="0"/>
              </a:spcAft>
              <a:buSzPts val="1800"/>
              <a:buAutoNum type="arabicPeriod"/>
            </a:pPr>
            <a:r>
              <a:rPr lang="en"/>
              <a:t>Created scenic_net_full in this </a:t>
            </a:r>
            <a:r>
              <a:rPr lang="en" u="sng">
                <a:solidFill>
                  <a:schemeClr val="hlink"/>
                </a:solidFill>
                <a:hlinkClick r:id="rId3"/>
              </a:rPr>
              <a:t>folder</a:t>
            </a:r>
            <a:endParaRPr/>
          </a:p>
          <a:p>
            <a:pPr indent="-342900" lvl="0" marL="914400" rtl="0" algn="l">
              <a:spcBef>
                <a:spcPts val="0"/>
              </a:spcBef>
              <a:spcAft>
                <a:spcPts val="0"/>
              </a:spcAft>
              <a:buSzPts val="1800"/>
              <a:buAutoNum type="arabicPeriod"/>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is RSS </a:t>
            </a:r>
            <a:r>
              <a:rPr lang="en"/>
              <a:t>created?</a:t>
            </a:r>
            <a:endParaRPr/>
          </a:p>
        </p:txBody>
      </p:sp>
      <p:sp>
        <p:nvSpPr>
          <p:cNvPr id="300" name="Google Shape;300;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For every (cell type, regulon) pair, treat the regulon’s AUC vector and cell type’s membership as two probability distributions over cells and ask</a:t>
            </a:r>
            <a:endParaRPr sz="2000"/>
          </a:p>
          <a:p>
            <a:pPr indent="0" lvl="0" marL="0" rtl="0" algn="l">
              <a:spcBef>
                <a:spcPts val="1200"/>
              </a:spcBef>
              <a:spcAft>
                <a:spcPts val="0"/>
              </a:spcAft>
              <a:buNone/>
            </a:pPr>
            <a:r>
              <a:rPr lang="en" sz="2000"/>
              <a:t>“How similar are these two shapes”</a:t>
            </a:r>
            <a:endParaRPr sz="2000"/>
          </a:p>
          <a:p>
            <a:pPr indent="0" lvl="0" marL="0" rtl="0" algn="l">
              <a:spcBef>
                <a:spcPts val="1200"/>
              </a:spcBef>
              <a:spcAft>
                <a:spcPts val="0"/>
              </a:spcAft>
              <a:buNone/>
            </a:pPr>
            <a:r>
              <a:rPr lang="en" sz="2000"/>
              <a:t>Calculated</a:t>
            </a:r>
            <a:r>
              <a:rPr lang="en" sz="2000"/>
              <a:t> with </a:t>
            </a:r>
            <a:r>
              <a:rPr b="1" lang="en" sz="2000"/>
              <a:t>jensen-shannon DISTANCE</a:t>
            </a:r>
            <a:endParaRPr sz="2000"/>
          </a:p>
          <a:p>
            <a:pPr indent="0" lvl="0" marL="0" rtl="0" algn="l">
              <a:spcBef>
                <a:spcPts val="1200"/>
              </a:spcBef>
              <a:spcAft>
                <a:spcPts val="0"/>
              </a:spcAft>
              <a:buNone/>
            </a:pPr>
            <a:r>
              <a:rPr lang="en" sz="2000"/>
              <a:t>In our data:</a:t>
            </a:r>
            <a:endParaRPr sz="2000"/>
          </a:p>
          <a:p>
            <a:pPr indent="0" lvl="0" marL="0" rtl="0" algn="l">
              <a:spcBef>
                <a:spcPts val="1200"/>
              </a:spcBef>
              <a:spcAft>
                <a:spcPts val="0"/>
              </a:spcAft>
              <a:buNone/>
            </a:pPr>
            <a:r>
              <a:rPr lang="en" sz="2000"/>
              <a:t>Our inputs to RSS are:</a:t>
            </a:r>
            <a:endParaRPr sz="2000"/>
          </a:p>
          <a:p>
            <a:pPr indent="0" lvl="0" marL="0" rtl="0" algn="l">
              <a:spcBef>
                <a:spcPts val="1200"/>
              </a:spcBef>
              <a:spcAft>
                <a:spcPts val="0"/>
              </a:spcAft>
              <a:buNone/>
            </a:pPr>
            <a:r>
              <a:rPr lang="en" sz="2000"/>
              <a:t>AUC matrix + cell label types (CD4_rest, CD4_act, CD8_rest, CD8_act)</a:t>
            </a:r>
            <a:endParaRPr sz="2000"/>
          </a:p>
          <a:p>
            <a:pPr indent="0" lvl="0" marL="0" rtl="0" algn="l">
              <a:spcBef>
                <a:spcPts val="1200"/>
              </a:spcBef>
              <a:spcAft>
                <a:spcPts val="1200"/>
              </a:spcAft>
              <a:buNone/>
            </a:pPr>
            <a:r>
              <a:rPr lang="en" sz="2000"/>
              <a:t>RSS asks, for every (cell group, regulon) pair, Are the cells where this regulon fires the same cells that belong to this group?</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grn</a:t>
            </a:r>
            <a:endParaRPr/>
          </a:p>
        </p:txBody>
      </p:sp>
      <p:sp>
        <p:nvSpPr>
          <p:cNvPr id="306" name="Google Shape;306;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Load data from tcell_embeddingd_filtered.h5ad</a:t>
            </a:r>
            <a:endParaRPr sz="2000"/>
          </a:p>
          <a:p>
            <a:pPr indent="-355600" lvl="0" marL="457200" rtl="0" algn="l">
              <a:spcBef>
                <a:spcPts val="0"/>
              </a:spcBef>
              <a:spcAft>
                <a:spcPts val="0"/>
              </a:spcAft>
              <a:buSzPts val="2000"/>
              <a:buAutoNum type="arabicPeriod"/>
            </a:pPr>
            <a:r>
              <a:rPr lang="en" sz="2000"/>
              <a:t>Build group 4 w cd4_rest, cd4_act, cd8_rest, cd8_act</a:t>
            </a:r>
            <a:endParaRPr sz="2000"/>
          </a:p>
          <a:p>
            <a:pPr indent="-355600" lvl="0" marL="457200" rtl="0" algn="l">
              <a:spcBef>
                <a:spcPts val="0"/>
              </a:spcBef>
              <a:spcAft>
                <a:spcPts val="0"/>
              </a:spcAft>
              <a:buSzPts val="2000"/>
              <a:buAutoNum type="arabicPeriod"/>
            </a:pPr>
            <a:r>
              <a:rPr lang="en" sz="2000"/>
              <a:t>Build genelist</a:t>
            </a:r>
            <a:endParaRPr sz="2000"/>
          </a:p>
          <a:p>
            <a:pPr indent="-355600" lvl="1" marL="914400" rtl="0" algn="l">
              <a:spcBef>
                <a:spcPts val="0"/>
              </a:spcBef>
              <a:spcAft>
                <a:spcPts val="0"/>
              </a:spcAft>
              <a:buSzPts val="2000"/>
              <a:buAutoNum type="alphaLcPeriod"/>
            </a:pPr>
            <a:r>
              <a:rPr lang="en" sz="2000"/>
              <a:t>Union of humanTFs and the HVGs in var_names</a:t>
            </a:r>
            <a:endParaRPr sz="2000"/>
          </a:p>
          <a:p>
            <a:pPr indent="-355600" lvl="0" marL="457200" rtl="0" algn="l">
              <a:spcBef>
                <a:spcPts val="0"/>
              </a:spcBef>
              <a:spcAft>
                <a:spcPts val="0"/>
              </a:spcAft>
              <a:buSzPts val="2000"/>
              <a:buAutoNum type="arabicPeriod"/>
            </a:pPr>
            <a:r>
              <a:rPr lang="en" sz="2000"/>
              <a:t>Symbol -&gt; ensmbl conversion using bionty human gene table</a:t>
            </a:r>
            <a:endParaRPr sz="2000"/>
          </a:p>
          <a:p>
            <a:pPr indent="-355600" lvl="0" marL="457200" rtl="0" algn="l">
              <a:spcBef>
                <a:spcPts val="0"/>
              </a:spcBef>
              <a:spcAft>
                <a:spcPts val="0"/>
              </a:spcAft>
              <a:buSzPts val="2000"/>
              <a:buAutoNum type="arabicPeriod"/>
            </a:pPr>
            <a:r>
              <a:rPr lang="en" sz="2000"/>
              <a:t>Load scPRINT2 model from small-v2.ckpt</a:t>
            </a:r>
            <a:endParaRPr sz="2000"/>
          </a:p>
          <a:p>
            <a:pPr indent="-355600" lvl="0" marL="457200" rtl="0" algn="l">
              <a:spcBef>
                <a:spcPts val="0"/>
              </a:spcBef>
              <a:spcAft>
                <a:spcPts val="0"/>
              </a:spcAft>
              <a:buSzPts val="2000"/>
              <a:buAutoNum type="arabicPeriod"/>
            </a:pPr>
            <a:r>
              <a:rPr lang="en" sz="2000"/>
              <a:t>Align</a:t>
            </a:r>
            <a:r>
              <a:rPr lang="en" sz="2000"/>
              <a:t> adata to model’s gene </a:t>
            </a:r>
            <a:r>
              <a:rPr lang="en" sz="2000"/>
              <a:t>universe</a:t>
            </a:r>
            <a:endParaRPr sz="2000"/>
          </a:p>
          <a:p>
            <a:pPr indent="-355600" lvl="0" marL="457200" rtl="0" algn="l">
              <a:spcBef>
                <a:spcPts val="0"/>
              </a:spcBef>
              <a:spcAft>
                <a:spcPts val="0"/>
              </a:spcAft>
              <a:buSzPts val="2000"/>
              <a:buAutoNum type="arabicPeriod"/>
            </a:pPr>
            <a:r>
              <a:rPr lang="en" sz="2000"/>
              <a:t>Instantiate GNInfer with hyperparameters</a:t>
            </a:r>
            <a:endParaRPr sz="2000"/>
          </a:p>
          <a:p>
            <a:pPr indent="-355600" lvl="1" marL="914400" rtl="0" algn="l">
              <a:spcBef>
                <a:spcPts val="0"/>
              </a:spcBef>
              <a:spcAft>
                <a:spcPts val="0"/>
              </a:spcAft>
              <a:buSzPts val="2000"/>
              <a:buAutoNum type="alphaLcPeriod"/>
            </a:pPr>
            <a:r>
              <a:rPr lang="en" sz="2000"/>
              <a:t>Used a monkey patch here</a:t>
            </a:r>
            <a:endParaRPr sz="2000"/>
          </a:p>
          <a:p>
            <a:pPr indent="-355600" lvl="0" marL="457200" rtl="0" algn="l">
              <a:spcBef>
                <a:spcPts val="0"/>
              </a:spcBef>
              <a:spcAft>
                <a:spcPts val="0"/>
              </a:spcAft>
              <a:buSzPts val="2000"/>
              <a:buAutoNum type="arabicPeriod"/>
            </a:pPr>
            <a:r>
              <a:rPr lang="en" sz="2000"/>
              <a:t>Filter low </a:t>
            </a:r>
            <a:r>
              <a:rPr lang="en" sz="2000"/>
              <a:t>quality</a:t>
            </a:r>
            <a:r>
              <a:rPr lang="en" sz="2000"/>
              <a:t> cells</a:t>
            </a:r>
            <a:endParaRPr sz="2000"/>
          </a:p>
          <a:p>
            <a:pPr indent="-355600" lvl="0" marL="457200" rtl="0" algn="l">
              <a:spcBef>
                <a:spcPts val="0"/>
              </a:spcBef>
              <a:spcAft>
                <a:spcPts val="0"/>
              </a:spcAft>
              <a:buSzPts val="2000"/>
              <a:buAutoNum type="arabicPeriod"/>
            </a:pPr>
            <a:r>
              <a:rPr lang="en" sz="2000"/>
              <a:t>Run GRN inference in two loops</a:t>
            </a:r>
            <a:endParaRPr sz="2000"/>
          </a:p>
          <a:p>
            <a:pPr indent="-355600" lvl="1" marL="914400" rtl="0" algn="l">
              <a:spcBef>
                <a:spcPts val="0"/>
              </a:spcBef>
              <a:spcAft>
                <a:spcPts val="0"/>
              </a:spcAft>
              <a:buSzPts val="2000"/>
              <a:buAutoNum type="alphaLcPeriod"/>
            </a:pPr>
            <a:r>
              <a:rPr lang="en" sz="2000"/>
              <a:t>One for CD4 (CD4_rest, CD4_act), one for CD8 (CD8_rest, CD8_act)</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grn: the hyperparameters</a:t>
            </a:r>
            <a:endParaRPr/>
          </a:p>
        </p:txBody>
      </p:sp>
      <p:sp>
        <p:nvSpPr>
          <p:cNvPr id="312" name="Google Shape;312;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2000"/>
              <a:t>Used how = ‘some’ </a:t>
            </a:r>
            <a:endParaRPr sz="2000"/>
          </a:p>
          <a:p>
            <a:pPr indent="0" lvl="0" marL="457200" rtl="0" algn="l">
              <a:spcBef>
                <a:spcPts val="1200"/>
              </a:spcBef>
              <a:spcAft>
                <a:spcPts val="0"/>
              </a:spcAft>
              <a:buNone/>
            </a:pPr>
            <a:r>
              <a:rPr lang="en" sz="2000"/>
              <a:t>Why?</a:t>
            </a:r>
            <a:endParaRPr sz="2000"/>
          </a:p>
          <a:p>
            <a:pPr indent="-355600" lvl="0" marL="457200" rtl="0" algn="l">
              <a:spcBef>
                <a:spcPts val="1200"/>
              </a:spcBef>
              <a:spcAft>
                <a:spcPts val="0"/>
              </a:spcAft>
              <a:buSzPts val="2000"/>
              <a:buChar char="-"/>
            </a:pPr>
            <a:r>
              <a:rPr lang="en" sz="2000"/>
              <a:t>‘Most var across’ picks the 2000 genes that best discriminate one cell group from another </a:t>
            </a:r>
            <a:endParaRPr sz="2000"/>
          </a:p>
          <a:p>
            <a:pPr indent="-355600" lvl="0" marL="457200" rtl="0" algn="l">
              <a:spcBef>
                <a:spcPts val="0"/>
              </a:spcBef>
              <a:spcAft>
                <a:spcPts val="0"/>
              </a:spcAft>
              <a:buSzPts val="2000"/>
              <a:buChar char="-"/>
            </a:pPr>
            <a:r>
              <a:rPr lang="en" sz="2000"/>
              <a:t>‘Most var within’ most 2000 variable genes inside each group</a:t>
            </a:r>
            <a:endParaRPr sz="2000"/>
          </a:p>
          <a:p>
            <a:pPr indent="0" lvl="0" marL="0" rtl="0" algn="l">
              <a:spcBef>
                <a:spcPts val="1200"/>
              </a:spcBef>
              <a:spcAft>
                <a:spcPts val="0"/>
              </a:spcAft>
              <a:buNone/>
            </a:pPr>
            <a:r>
              <a:rPr lang="en" sz="2000"/>
              <a:t>Both gene set changes between rest and act so the GRNs live in different genes, so we use</a:t>
            </a:r>
            <a:endParaRPr sz="2000"/>
          </a:p>
          <a:p>
            <a:pPr indent="0" lvl="0" marL="0" rtl="0" algn="l">
              <a:spcBef>
                <a:spcPts val="1200"/>
              </a:spcBef>
              <a:spcAft>
                <a:spcPts val="0"/>
              </a:spcAft>
              <a:buNone/>
            </a:pPr>
            <a:r>
              <a:rPr lang="en" sz="2000"/>
              <a:t>How = ‘some</a:t>
            </a:r>
            <a:endParaRPr sz="2000"/>
          </a:p>
          <a:p>
            <a:pPr indent="-355600" lvl="0" marL="457200" rtl="0" algn="l">
              <a:spcBef>
                <a:spcPts val="1200"/>
              </a:spcBef>
              <a:spcAft>
                <a:spcPts val="0"/>
              </a:spcAft>
              <a:buSzPts val="2000"/>
              <a:buAutoNum type="arabicPeriod"/>
            </a:pPr>
            <a:r>
              <a:rPr lang="en" sz="2000"/>
              <a:t>A fixed shared gene axis</a:t>
            </a:r>
            <a:endParaRPr sz="2000"/>
          </a:p>
          <a:p>
            <a:pPr indent="-355600" lvl="0" marL="457200" rtl="0" algn="l">
              <a:spcBef>
                <a:spcPts val="0"/>
              </a:spcBef>
              <a:spcAft>
                <a:spcPts val="0"/>
              </a:spcAft>
              <a:buSzPts val="2000"/>
              <a:buAutoNum type="arabicPeriod"/>
            </a:pPr>
            <a:r>
              <a:rPr lang="en" sz="2000"/>
              <a:t>Guaranteed TF coverage</a:t>
            </a:r>
            <a:endParaRPr sz="2000"/>
          </a:p>
          <a:p>
            <a:pPr indent="0" lvl="0" marL="457200" rtl="0" algn="l">
              <a:spcBef>
                <a:spcPts val="1200"/>
              </a:spcBef>
              <a:spcAft>
                <a:spcPts val="1200"/>
              </a:spcAft>
              <a:buNone/>
            </a:pPr>
            <a:r>
              <a:t/>
            </a:r>
            <a:endParaRPr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Grn analysis</a:t>
            </a:r>
            <a:endParaRPr/>
          </a:p>
        </p:txBody>
      </p:sp>
      <p:sp>
        <p:nvSpPr>
          <p:cNvPr id="318" name="Google Shape;318;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Grn analysis</a:t>
            </a:r>
            <a:endParaRPr/>
          </a:p>
        </p:txBody>
      </p:sp>
      <p:sp>
        <p:nvSpPr>
          <p:cNvPr id="324" name="Google Shape;324;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Load data from tcell_embeddingd_filtered.h5ad</a:t>
            </a:r>
            <a:endParaRPr sz="2000"/>
          </a:p>
          <a:p>
            <a:pPr indent="-355600" lvl="0" marL="457200" rtl="0" algn="l">
              <a:spcBef>
                <a:spcPts val="0"/>
              </a:spcBef>
              <a:spcAft>
                <a:spcPts val="0"/>
              </a:spcAft>
              <a:buSzPts val="2000"/>
              <a:buAutoNum type="arabicPeriod"/>
            </a:pPr>
            <a:r>
              <a:rPr lang="en" sz="2000"/>
              <a:t>Build group 4 w cd4_rest, cd4_act, cd8_rest, cd8_act</a:t>
            </a:r>
            <a:endParaRPr sz="2000"/>
          </a:p>
          <a:p>
            <a:pPr indent="-355600" lvl="0" marL="457200" rtl="0" algn="l">
              <a:spcBef>
                <a:spcPts val="0"/>
              </a:spcBef>
              <a:spcAft>
                <a:spcPts val="0"/>
              </a:spcAft>
              <a:buSzPts val="2000"/>
              <a:buAutoNum type="arabicPeriod"/>
            </a:pPr>
            <a:r>
              <a:rPr lang="en" sz="2000"/>
              <a:t>Build genelist</a:t>
            </a:r>
            <a:endParaRPr sz="2000"/>
          </a:p>
          <a:p>
            <a:pPr indent="-355600" lvl="1" marL="914400" rtl="0" algn="l">
              <a:spcBef>
                <a:spcPts val="0"/>
              </a:spcBef>
              <a:spcAft>
                <a:spcPts val="0"/>
              </a:spcAft>
              <a:buSzPts val="2000"/>
              <a:buAutoNum type="alphaLcPeriod"/>
            </a:pPr>
            <a:r>
              <a:rPr lang="en" sz="2000"/>
              <a:t>Union of humanTFs and the HVGs in var_names</a:t>
            </a:r>
            <a:endParaRPr sz="2000"/>
          </a:p>
          <a:p>
            <a:pPr indent="-355600" lvl="0" marL="457200" rtl="0" algn="l">
              <a:spcBef>
                <a:spcPts val="0"/>
              </a:spcBef>
              <a:spcAft>
                <a:spcPts val="0"/>
              </a:spcAft>
              <a:buSzPts val="2000"/>
              <a:buAutoNum type="arabicPeriod"/>
            </a:pPr>
            <a:r>
              <a:rPr lang="en" sz="2000"/>
              <a:t>Symbol -&gt; ensmbl conversion using bionty human gene table</a:t>
            </a:r>
            <a:endParaRPr sz="2000"/>
          </a:p>
          <a:p>
            <a:pPr indent="-355600" lvl="0" marL="457200" rtl="0" algn="l">
              <a:spcBef>
                <a:spcPts val="0"/>
              </a:spcBef>
              <a:spcAft>
                <a:spcPts val="0"/>
              </a:spcAft>
              <a:buSzPts val="2000"/>
              <a:buAutoNum type="arabicPeriod"/>
            </a:pPr>
            <a:r>
              <a:rPr lang="en" sz="2000"/>
              <a:t>Load scPRINT2 model from small-v2.ckpt</a:t>
            </a:r>
            <a:endParaRPr sz="2000"/>
          </a:p>
          <a:p>
            <a:pPr indent="-355600" lvl="0" marL="457200" rtl="0" algn="l">
              <a:spcBef>
                <a:spcPts val="0"/>
              </a:spcBef>
              <a:spcAft>
                <a:spcPts val="0"/>
              </a:spcAft>
              <a:buSzPts val="2000"/>
              <a:buAutoNum type="arabicPeriod"/>
            </a:pPr>
            <a:r>
              <a:rPr lang="en" sz="2000"/>
              <a:t>Align adata to model’s gene universe</a:t>
            </a:r>
            <a:endParaRPr sz="2000"/>
          </a:p>
          <a:p>
            <a:pPr indent="-355600" lvl="0" marL="457200" rtl="0" algn="l">
              <a:spcBef>
                <a:spcPts val="0"/>
              </a:spcBef>
              <a:spcAft>
                <a:spcPts val="0"/>
              </a:spcAft>
              <a:buSzPts val="2000"/>
              <a:buAutoNum type="arabicPeriod"/>
            </a:pPr>
            <a:r>
              <a:rPr lang="en" sz="2000"/>
              <a:t>Instantiate GNInfer with hyperparameters</a:t>
            </a:r>
            <a:endParaRPr sz="2000"/>
          </a:p>
          <a:p>
            <a:pPr indent="-355600" lvl="1" marL="914400" rtl="0" algn="l">
              <a:spcBef>
                <a:spcPts val="0"/>
              </a:spcBef>
              <a:spcAft>
                <a:spcPts val="0"/>
              </a:spcAft>
              <a:buSzPts val="2000"/>
              <a:buAutoNum type="alphaLcPeriod"/>
            </a:pPr>
            <a:r>
              <a:rPr lang="en" sz="2000"/>
              <a:t>Used a monkey patch here</a:t>
            </a:r>
            <a:endParaRPr sz="2000"/>
          </a:p>
          <a:p>
            <a:pPr indent="-355600" lvl="0" marL="457200" rtl="0" algn="l">
              <a:spcBef>
                <a:spcPts val="0"/>
              </a:spcBef>
              <a:spcAft>
                <a:spcPts val="0"/>
              </a:spcAft>
              <a:buSzPts val="2000"/>
              <a:buAutoNum type="arabicPeriod"/>
            </a:pPr>
            <a:r>
              <a:rPr lang="en" sz="2000"/>
              <a:t>Filter low quality cells</a:t>
            </a:r>
            <a:endParaRPr sz="2000"/>
          </a:p>
          <a:p>
            <a:pPr indent="-355600" lvl="0" marL="457200" rtl="0" algn="l">
              <a:spcBef>
                <a:spcPts val="0"/>
              </a:spcBef>
              <a:spcAft>
                <a:spcPts val="0"/>
              </a:spcAft>
              <a:buSzPts val="2000"/>
              <a:buAutoNum type="arabicPeriod"/>
            </a:pPr>
            <a:r>
              <a:rPr lang="en" sz="2000"/>
              <a:t>Run GRN inference in two loops</a:t>
            </a:r>
            <a:endParaRPr sz="2000"/>
          </a:p>
          <a:p>
            <a:pPr indent="-355600" lvl="1" marL="914400" rtl="0" algn="l">
              <a:spcBef>
                <a:spcPts val="0"/>
              </a:spcBef>
              <a:spcAft>
                <a:spcPts val="0"/>
              </a:spcAft>
              <a:buSzPts val="2000"/>
              <a:buAutoNum type="alphaLcPeriod"/>
            </a:pPr>
            <a:r>
              <a:rPr lang="en" sz="2000"/>
              <a:t>One for CD4 (CD4_rest, CD4_act), one for CD8 (CD8_rest, CD8_act)</a:t>
            </a:r>
            <a:endParaRPr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14: </a:t>
            </a:r>
            <a:endParaRPr/>
          </a:p>
        </p:txBody>
      </p:sp>
      <p:sp>
        <p:nvSpPr>
          <p:cNvPr id="330" name="Google Shape;330;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Put adj.matrix value for each pair (for scenic_net) (additional col)</a:t>
            </a:r>
            <a:endParaRPr sz="2000"/>
          </a:p>
          <a:p>
            <a:pPr indent="-355600" lvl="0" marL="457200" rtl="0" algn="l">
              <a:spcBef>
                <a:spcPts val="0"/>
              </a:spcBef>
              <a:spcAft>
                <a:spcPts val="0"/>
              </a:spcAft>
              <a:buSzPts val="2000"/>
              <a:buAutoNum type="arabicPeriod"/>
            </a:pPr>
            <a:r>
              <a:rPr lang="en" sz="2000"/>
              <a:t>Scanpy </a:t>
            </a:r>
            <a:r>
              <a:rPr lang="en" sz="2000"/>
              <a:t>differential</a:t>
            </a:r>
            <a:r>
              <a:rPr lang="en" sz="2000"/>
              <a:t> marker analysis (one group vs. rest)</a:t>
            </a:r>
            <a:endParaRPr sz="2000"/>
          </a:p>
          <a:p>
            <a:pPr indent="-355600" lvl="1" marL="914400" rtl="0" algn="l">
              <a:spcBef>
                <a:spcPts val="0"/>
              </a:spcBef>
              <a:spcAft>
                <a:spcPts val="0"/>
              </a:spcAft>
              <a:buSzPts val="2000"/>
              <a:buAutoNum type="alphaLcPeriod"/>
            </a:pPr>
            <a:r>
              <a:rPr lang="en" sz="2000"/>
              <a:t>Take those markers as some and the other parameter is geneList</a:t>
            </a:r>
            <a:endParaRPr sz="2000"/>
          </a:p>
          <a:p>
            <a:pPr indent="-355600" lvl="0" marL="457200" rtl="0" algn="l">
              <a:spcBef>
                <a:spcPts val="0"/>
              </a:spcBef>
              <a:spcAft>
                <a:spcPts val="0"/>
              </a:spcAft>
              <a:buSzPts val="2000"/>
              <a:buAutoNum type="arabicPeriod"/>
            </a:pPr>
            <a:r>
              <a:rPr lang="en" sz="2000"/>
              <a:t>Create scprint2_net</a:t>
            </a:r>
            <a:endParaRPr sz="2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21</a:t>
            </a:r>
            <a:endParaRPr/>
          </a:p>
        </p:txBody>
      </p:sp>
      <p:sp>
        <p:nvSpPr>
          <p:cNvPr id="336" name="Google Shape;336;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Quick Checks</a:t>
            </a:r>
            <a:endParaRPr/>
          </a:p>
          <a:p>
            <a:pPr indent="-308610" lvl="0" marL="457200" rtl="0" algn="l">
              <a:spcBef>
                <a:spcPts val="1200"/>
              </a:spcBef>
              <a:spcAft>
                <a:spcPts val="0"/>
              </a:spcAft>
              <a:buSzPct val="100000"/>
              <a:buAutoNum type="arabicPeriod"/>
            </a:pPr>
            <a:r>
              <a:rPr lang="en"/>
              <a:t>Get the proper </a:t>
            </a:r>
            <a:r>
              <a:rPr lang="en"/>
              <a:t>scenic</a:t>
            </a:r>
            <a:r>
              <a:rPr lang="en"/>
              <a:t>-net graphs</a:t>
            </a:r>
            <a:endParaRPr/>
          </a:p>
          <a:p>
            <a:pPr indent="-308610" lvl="0" marL="457200" rtl="0" algn="l">
              <a:spcBef>
                <a:spcPts val="0"/>
              </a:spcBef>
              <a:spcAft>
                <a:spcPts val="0"/>
              </a:spcAft>
              <a:buSzPct val="100000"/>
              <a:buAutoNum type="arabicPeriod"/>
            </a:pPr>
            <a:r>
              <a:rPr lang="en"/>
              <a:t>Check if </a:t>
            </a:r>
            <a:r>
              <a:rPr lang="en"/>
              <a:t>sprint</a:t>
            </a:r>
            <a:r>
              <a:rPr lang="en"/>
              <a:t> is symmetric</a:t>
            </a:r>
            <a:endParaRPr/>
          </a:p>
          <a:p>
            <a:pPr indent="-308610" lvl="0" marL="457200" rtl="0" algn="l">
              <a:spcBef>
                <a:spcPts val="0"/>
              </a:spcBef>
              <a:spcAft>
                <a:spcPts val="0"/>
              </a:spcAft>
              <a:buSzPct val="100000"/>
              <a:buAutoNum type="arabicPeriod"/>
            </a:pPr>
            <a:r>
              <a:rPr lang="en"/>
              <a:t>Check paper for perturb net, what dataset to use in perturb net and how does it correlate ours</a:t>
            </a:r>
            <a:endParaRPr/>
          </a:p>
          <a:p>
            <a:pPr indent="-290830" lvl="1" marL="914400" rtl="0" algn="l">
              <a:spcBef>
                <a:spcPts val="0"/>
              </a:spcBef>
              <a:spcAft>
                <a:spcPts val="0"/>
              </a:spcAft>
              <a:buSzPct val="100000"/>
              <a:buAutoNum type="alphaLcPeriod"/>
            </a:pPr>
            <a:r>
              <a:rPr i="1" lang="en"/>
              <a:t>Takie all resring cells and see which TFs thy prtuebr for resting cells</a:t>
            </a:r>
            <a:endParaRPr i="1"/>
          </a:p>
          <a:p>
            <a:pPr indent="-290830" lvl="1" marL="914400" rtl="0" algn="l">
              <a:spcBef>
                <a:spcPts val="0"/>
              </a:spcBef>
              <a:spcAft>
                <a:spcPts val="0"/>
              </a:spcAft>
              <a:buSzPct val="100000"/>
              <a:buAutoNum type="alphaLcPeriod"/>
            </a:pPr>
            <a:r>
              <a:rPr i="1" lang="en"/>
              <a:t>Perturbnet creation</a:t>
            </a:r>
            <a:endParaRPr i="1"/>
          </a:p>
          <a:p>
            <a:pPr indent="-290830" lvl="1" marL="914400" rtl="0" algn="l">
              <a:spcBef>
                <a:spcPts val="0"/>
              </a:spcBef>
              <a:spcAft>
                <a:spcPts val="0"/>
              </a:spcAft>
              <a:buSzPct val="100000"/>
              <a:buAutoNum type="alphaLcPeriod"/>
            </a:pPr>
            <a:r>
              <a:rPr i="1" lang="en"/>
              <a:t>Source tf, target will be changed upon pertubantion, log2fold change</a:t>
            </a:r>
            <a:endParaRPr i="1"/>
          </a:p>
          <a:p>
            <a:pPr indent="0" lvl="0" marL="0" rtl="0" algn="l">
              <a:spcBef>
                <a:spcPts val="1200"/>
              </a:spcBef>
              <a:spcAft>
                <a:spcPts val="0"/>
              </a:spcAft>
              <a:buNone/>
            </a:pPr>
            <a:r>
              <a:rPr lang="en"/>
              <a:t>Creation of Perturb Net (ONLY cd4)</a:t>
            </a:r>
            <a:endParaRPr/>
          </a:p>
          <a:p>
            <a:pPr indent="-308610" lvl="0" marL="457200" rtl="0" algn="l">
              <a:spcBef>
                <a:spcPts val="1200"/>
              </a:spcBef>
              <a:spcAft>
                <a:spcPts val="0"/>
              </a:spcAft>
              <a:buSzPct val="100000"/>
              <a:buAutoNum type="arabicPeriod"/>
            </a:pPr>
            <a:r>
              <a:rPr lang="en"/>
              <a:t>Will be generating one network for resting and activating, not sure about activaitng  (since perutbrnet has 3 </a:t>
            </a:r>
            <a:r>
              <a:rPr lang="en"/>
              <a:t>dataset</a:t>
            </a:r>
            <a:r>
              <a:rPr lang="en"/>
              <a:t> create 3 networks)</a:t>
            </a:r>
            <a:endParaRPr/>
          </a:p>
          <a:p>
            <a:pPr indent="-308610" lvl="0" marL="457200" rtl="0" algn="l">
              <a:spcBef>
                <a:spcPts val="0"/>
              </a:spcBef>
              <a:spcAft>
                <a:spcPts val="0"/>
              </a:spcAft>
              <a:buSzPct val="100000"/>
              <a:buAutoNum type="arabicPeriod"/>
            </a:pPr>
            <a:r>
              <a:rPr lang="en"/>
              <a:t>S</a:t>
            </a:r>
            <a:r>
              <a:rPr lang="en"/>
              <a:t>elect only the tfs that are perturbed ONLY in the resting dataset</a:t>
            </a:r>
            <a:endParaRPr/>
          </a:p>
          <a:p>
            <a:pPr indent="-308610" lvl="0" marL="457200" rtl="0" algn="l">
              <a:spcBef>
                <a:spcPts val="0"/>
              </a:spcBef>
              <a:spcAft>
                <a:spcPts val="0"/>
              </a:spcAft>
              <a:buSzPct val="100000"/>
              <a:buAutoNum type="arabicPeriod"/>
            </a:pPr>
            <a:r>
              <a:rPr lang="en"/>
              <a:t>Source, TF, Target, log2foldchange</a:t>
            </a:r>
            <a:endParaRPr/>
          </a:p>
          <a:p>
            <a:pPr indent="-308610" lvl="0" marL="457200" rtl="0" algn="l">
              <a:spcBef>
                <a:spcPts val="0"/>
              </a:spcBef>
              <a:spcAft>
                <a:spcPts val="0"/>
              </a:spcAft>
              <a:buSzPct val="100000"/>
              <a:buAutoNum type="arabicPeriod"/>
            </a:pPr>
            <a:r>
              <a:rPr lang="en"/>
              <a:t>Look into  the genes that change upon perutbrantin (target genes),only assign as target gene if log2fold is significant</a:t>
            </a:r>
            <a:endParaRPr/>
          </a:p>
          <a:p>
            <a:pPr indent="-308610" lvl="0" marL="457200" rtl="0" algn="l">
              <a:spcBef>
                <a:spcPts val="0"/>
              </a:spcBef>
              <a:spcAft>
                <a:spcPts val="0"/>
              </a:spcAft>
              <a:buSzPct val="100000"/>
              <a:buAutoNum type="arabicPeriod"/>
            </a:pPr>
            <a:r>
              <a:rPr lang="en"/>
              <a:t>Significance value should be added too if given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28 - recap</a:t>
            </a:r>
            <a:endParaRPr/>
          </a:p>
        </p:txBody>
      </p:sp>
      <p:sp>
        <p:nvSpPr>
          <p:cNvPr id="342" name="Google Shape;342;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a:t>New scPRINT GRN analysis:</a:t>
            </a:r>
            <a:endParaRPr strike="sngStrike"/>
          </a:p>
        </p:txBody>
      </p:sp>
      <p:pic>
        <p:nvPicPr>
          <p:cNvPr id="343" name="Google Shape;343;p58" title="Screenshot 2026-04-28 at 2.46.40 PM.png"/>
          <p:cNvPicPr preferRelativeResize="0"/>
          <p:nvPr/>
        </p:nvPicPr>
        <p:blipFill rotWithShape="1">
          <a:blip r:embed="rId3">
            <a:alphaModFix/>
          </a:blip>
          <a:srcRect b="27399" l="0" r="0" t="0"/>
          <a:stretch/>
        </p:blipFill>
        <p:spPr>
          <a:xfrm>
            <a:off x="1459475" y="1637675"/>
            <a:ext cx="5014526" cy="2931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28 </a:t>
            </a:r>
            <a:endParaRPr/>
          </a:p>
        </p:txBody>
      </p:sp>
      <p:sp>
        <p:nvSpPr>
          <p:cNvPr id="349" name="Google Shape;349;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a:t>New scPRINT GRN analysis:</a:t>
            </a:r>
            <a:endParaRPr strike="sngStrike"/>
          </a:p>
        </p:txBody>
      </p:sp>
      <p:pic>
        <p:nvPicPr>
          <p:cNvPr id="350" name="Google Shape;350;p59" title="Screenshot 2026-04-28 at 2.46.40 PM.png"/>
          <p:cNvPicPr preferRelativeResize="0"/>
          <p:nvPr/>
        </p:nvPicPr>
        <p:blipFill rotWithShape="1">
          <a:blip r:embed="rId3">
            <a:alphaModFix/>
          </a:blip>
          <a:srcRect b="27399" l="0" r="0" t="0"/>
          <a:stretch/>
        </p:blipFill>
        <p:spPr>
          <a:xfrm>
            <a:off x="1459475" y="1637675"/>
            <a:ext cx="5014526" cy="2931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28 -  </a:t>
            </a:r>
            <a:endParaRPr/>
          </a:p>
        </p:txBody>
      </p:sp>
      <p:sp>
        <p:nvSpPr>
          <p:cNvPr id="356" name="Google Shape;356;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a:t>New scPRINT GRN analysis:</a:t>
            </a:r>
            <a:endParaRPr strike="sngStrike"/>
          </a:p>
        </p:txBody>
      </p:sp>
      <p:pic>
        <p:nvPicPr>
          <p:cNvPr id="357" name="Google Shape;357;p60" title="Screenshot 2026-04-28 at 2.46.40 PM.png"/>
          <p:cNvPicPr preferRelativeResize="0"/>
          <p:nvPr/>
        </p:nvPicPr>
        <p:blipFill rotWithShape="1">
          <a:blip r:embed="rId3">
            <a:alphaModFix/>
          </a:blip>
          <a:srcRect b="27399" l="0" r="0" t="0"/>
          <a:stretch/>
        </p:blipFill>
        <p:spPr>
          <a:xfrm>
            <a:off x="1459475" y="1637675"/>
            <a:ext cx="5014526" cy="2931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28 </a:t>
            </a:r>
            <a:endParaRPr/>
          </a:p>
        </p:txBody>
      </p:sp>
      <p:sp>
        <p:nvSpPr>
          <p:cNvPr id="363" name="Google Shape;363;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9720" lvl="0" marL="457200" rtl="0" algn="l">
              <a:lnSpc>
                <a:spcPct val="105000"/>
              </a:lnSpc>
              <a:spcBef>
                <a:spcPts val="0"/>
              </a:spcBef>
              <a:spcAft>
                <a:spcPts val="0"/>
              </a:spcAft>
              <a:buSzPts val="1120"/>
              <a:buAutoNum type="arabicPeriod"/>
            </a:pPr>
            <a:r>
              <a:rPr lang="en" sz="1120"/>
              <a:t>One more fix to </a:t>
            </a:r>
            <a:r>
              <a:rPr lang="en" sz="1120"/>
              <a:t>scprint - i have to pick only significant pyscenic genelist ones</a:t>
            </a:r>
            <a:endParaRPr sz="1120"/>
          </a:p>
          <a:p>
            <a:pPr indent="-289560" lvl="1" marL="1371600" rtl="0" algn="l">
              <a:lnSpc>
                <a:spcPct val="105000"/>
              </a:lnSpc>
              <a:spcBef>
                <a:spcPts val="0"/>
              </a:spcBef>
              <a:spcAft>
                <a:spcPts val="0"/>
              </a:spcAft>
              <a:buSzPts val="960"/>
              <a:buAutoNum type="alphaLcPeriod"/>
            </a:pPr>
            <a:r>
              <a:rPr lang="en" sz="960"/>
              <a:t>Where pval &lt; 0.05. For the genelist in the wilcox method DE genes</a:t>
            </a:r>
            <a:endParaRPr sz="960"/>
          </a:p>
          <a:p>
            <a:pPr indent="-299720" lvl="0" marL="457200" rtl="0" algn="l">
              <a:lnSpc>
                <a:spcPct val="105000"/>
              </a:lnSpc>
              <a:spcBef>
                <a:spcPts val="0"/>
              </a:spcBef>
              <a:spcAft>
                <a:spcPts val="0"/>
              </a:spcAft>
              <a:buSzPts val="1120"/>
              <a:buAutoNum type="arabicPeriod"/>
            </a:pPr>
            <a:r>
              <a:rPr lang="en" sz="1120"/>
              <a:t>Which edges are common in both states, intersection</a:t>
            </a:r>
            <a:endParaRPr sz="1120"/>
          </a:p>
          <a:p>
            <a:pPr indent="-289560" lvl="1" marL="1371600" rtl="0" algn="l">
              <a:lnSpc>
                <a:spcPct val="105000"/>
              </a:lnSpc>
              <a:spcBef>
                <a:spcPts val="0"/>
              </a:spcBef>
              <a:spcAft>
                <a:spcPts val="0"/>
              </a:spcAft>
              <a:buSzPts val="960"/>
              <a:buAutoNum type="alphaLcPeriod"/>
            </a:pPr>
            <a:r>
              <a:rPr lang="en" sz="960"/>
              <a:t>Which edges in pyscenic_cd4rest are in scprint2_cd4rest.. etc</a:t>
            </a:r>
            <a:endParaRPr sz="960"/>
          </a:p>
          <a:p>
            <a:pPr indent="-289560" lvl="1" marL="1371600" rtl="0" algn="l">
              <a:lnSpc>
                <a:spcPct val="105000"/>
              </a:lnSpc>
              <a:spcBef>
                <a:spcPts val="0"/>
              </a:spcBef>
              <a:spcAft>
                <a:spcPts val="0"/>
              </a:spcAft>
              <a:buSzPts val="960"/>
              <a:buAutoNum type="alphaLcPeriod"/>
            </a:pPr>
            <a:r>
              <a:rPr lang="en" sz="960"/>
              <a:t>Repeat for all cell states</a:t>
            </a:r>
            <a:endParaRPr sz="960"/>
          </a:p>
          <a:p>
            <a:pPr indent="0" lvl="0" marL="0" rtl="0" algn="l">
              <a:lnSpc>
                <a:spcPct val="105000"/>
              </a:lnSpc>
              <a:spcBef>
                <a:spcPts val="1200"/>
              </a:spcBef>
              <a:spcAft>
                <a:spcPts val="0"/>
              </a:spcAft>
              <a:buSzPts val="440"/>
              <a:buNone/>
            </a:pPr>
            <a:r>
              <a:rPr lang="en" sz="1120"/>
              <a:t>3. Adj_pval &lt; 0.05 for perturb seq and update files</a:t>
            </a:r>
            <a:endParaRPr sz="1120"/>
          </a:p>
          <a:p>
            <a:pPr indent="0" lvl="0" marL="0" rtl="0" algn="l">
              <a:lnSpc>
                <a:spcPct val="105000"/>
              </a:lnSpc>
              <a:spcBef>
                <a:spcPts val="1200"/>
              </a:spcBef>
              <a:spcAft>
                <a:spcPts val="0"/>
              </a:spcAft>
              <a:buSzPts val="440"/>
              <a:buNone/>
            </a:pPr>
            <a:r>
              <a:rPr lang="en" sz="1120"/>
              <a:t>Read </a:t>
            </a:r>
            <a:r>
              <a:rPr lang="en" sz="1120" u="sng">
                <a:solidFill>
                  <a:schemeClr val="hlink"/>
                </a:solidFill>
                <a:hlinkClick r:id="rId3"/>
              </a:rPr>
              <a:t>cole.et.al</a:t>
            </a:r>
            <a:r>
              <a:rPr lang="en" sz="1120"/>
              <a:t> paper</a:t>
            </a:r>
            <a:endParaRPr sz="1120"/>
          </a:p>
          <a:p>
            <a:pPr indent="0" lvl="0" marL="0" rtl="0" algn="l">
              <a:lnSpc>
                <a:spcPct val="105000"/>
              </a:lnSpc>
              <a:spcBef>
                <a:spcPts val="1200"/>
              </a:spcBef>
              <a:spcAft>
                <a:spcPts val="0"/>
              </a:spcAft>
              <a:buSzPts val="440"/>
              <a:buNone/>
            </a:pPr>
            <a:r>
              <a:rPr lang="en" sz="1120"/>
              <a:t>	Look at the kmeans formulation in this paper, </a:t>
            </a:r>
            <a:endParaRPr sz="1120"/>
          </a:p>
          <a:p>
            <a:pPr indent="0" lvl="0" marL="0" rtl="0" algn="l">
              <a:lnSpc>
                <a:spcPct val="105000"/>
              </a:lnSpc>
              <a:spcBef>
                <a:spcPts val="1200"/>
              </a:spcBef>
              <a:spcAft>
                <a:spcPts val="0"/>
              </a:spcAft>
              <a:buSzPts val="440"/>
              <a:buNone/>
            </a:pPr>
            <a:r>
              <a:rPr lang="en" sz="1120"/>
              <a:t>Look into GEARS and see how it works, and this is for experimentation</a:t>
            </a:r>
            <a:endParaRPr sz="1120"/>
          </a:p>
          <a:p>
            <a:pPr indent="0" lvl="0" marL="0" rtl="0" algn="l">
              <a:lnSpc>
                <a:spcPct val="105000"/>
              </a:lnSpc>
              <a:spcBef>
                <a:spcPts val="1200"/>
              </a:spcBef>
              <a:spcAft>
                <a:spcPts val="0"/>
              </a:spcAft>
              <a:buSzPts val="440"/>
              <a:buNone/>
            </a:pPr>
            <a:r>
              <a:rPr lang="en" sz="1120"/>
              <a:t>Put together result and method section</a:t>
            </a:r>
            <a:endParaRPr sz="1120"/>
          </a:p>
          <a:p>
            <a:pPr indent="0" lvl="0" marL="0" rtl="0" algn="l">
              <a:lnSpc>
                <a:spcPct val="105000"/>
              </a:lnSpc>
              <a:spcBef>
                <a:spcPts val="1200"/>
              </a:spcBef>
              <a:spcAft>
                <a:spcPts val="0"/>
              </a:spcAft>
              <a:buSzPts val="440"/>
              <a:buNone/>
            </a:pPr>
            <a:r>
              <a:t/>
            </a:r>
            <a:endParaRPr sz="1120"/>
          </a:p>
          <a:p>
            <a:pPr indent="0" lvl="0" marL="0" rtl="0" algn="l">
              <a:lnSpc>
                <a:spcPct val="105000"/>
              </a:lnSpc>
              <a:spcBef>
                <a:spcPts val="1200"/>
              </a:spcBef>
              <a:spcAft>
                <a:spcPts val="0"/>
              </a:spcAft>
              <a:buSzPts val="440"/>
              <a:buNone/>
            </a:pPr>
            <a:r>
              <a:rPr lang="en" sz="1120"/>
              <a:t>Make a huge table for how many TFs in scprint2, scenic, perturb net</a:t>
            </a:r>
            <a:endParaRPr sz="1120"/>
          </a:p>
          <a:p>
            <a:pPr indent="0" lvl="0" marL="0" rtl="0" algn="l">
              <a:lnSpc>
                <a:spcPct val="105000"/>
              </a:lnSpc>
              <a:spcBef>
                <a:spcPts val="1200"/>
              </a:spcBef>
              <a:spcAft>
                <a:spcPts val="0"/>
              </a:spcAft>
              <a:buSzPts val="440"/>
              <a:buNone/>
            </a:pPr>
            <a:r>
              <a:rPr lang="en" sz="1120"/>
              <a:t>Infographic for in common Tfs across all three files</a:t>
            </a:r>
            <a:endParaRPr sz="1120"/>
          </a:p>
          <a:p>
            <a:pPr indent="-299720" lvl="0" marL="457200" rtl="0" algn="l">
              <a:lnSpc>
                <a:spcPct val="105000"/>
              </a:lnSpc>
              <a:spcBef>
                <a:spcPts val="1200"/>
              </a:spcBef>
              <a:spcAft>
                <a:spcPts val="0"/>
              </a:spcAft>
              <a:buSzPts val="1120"/>
              <a:buAutoNum type="arabicPeriod"/>
            </a:pPr>
            <a:r>
              <a:rPr lang="en" sz="820">
                <a:solidFill>
                  <a:srgbClr val="E3E3E3"/>
                </a:solidFill>
                <a:highlight>
                  <a:srgbClr val="282A2C"/>
                </a:highlight>
                <a:latin typeface="Courier New"/>
                <a:ea typeface="Courier New"/>
                <a:cs typeface="Courier New"/>
                <a:sym typeface="Courier New"/>
              </a:rPr>
              <a:t>COLUMNS are regulators (TFs), ROWS are targets</a:t>
            </a:r>
            <a:endParaRPr sz="820">
              <a:solidFill>
                <a:srgbClr val="E3E3E3"/>
              </a:solidFill>
              <a:highlight>
                <a:srgbClr val="282A2C"/>
              </a:highlight>
              <a:latin typeface="Courier New"/>
              <a:ea typeface="Courier New"/>
              <a:cs typeface="Courier New"/>
              <a:sym typeface="Courier New"/>
            </a:endParaRPr>
          </a:p>
          <a:p>
            <a:pPr indent="0" lvl="0" marL="914400" rtl="0" algn="l">
              <a:lnSpc>
                <a:spcPct val="105000"/>
              </a:lnSpc>
              <a:spcBef>
                <a:spcPts val="1200"/>
              </a:spcBef>
              <a:spcAft>
                <a:spcPts val="1200"/>
              </a:spcAft>
              <a:buSzPts val="440"/>
              <a:buNone/>
            </a:pPr>
            <a:r>
              <a:t/>
            </a:r>
            <a:endParaRPr sz="820">
              <a:solidFill>
                <a:srgbClr val="E3E3E3"/>
              </a:solidFill>
              <a:highlight>
                <a:srgbClr val="282A2C"/>
              </a:highlight>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28 </a:t>
            </a:r>
            <a:endParaRPr/>
          </a:p>
        </p:txBody>
      </p:sp>
      <p:sp>
        <p:nvSpPr>
          <p:cNvPr id="369" name="Google Shape;369;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One more fix to scprint - i have to pick only significant </a:t>
            </a:r>
            <a:r>
              <a:rPr lang="en"/>
              <a:t>scenic</a:t>
            </a:r>
            <a:endParaRPr/>
          </a:p>
          <a:p>
            <a:pPr indent="-342900" lvl="0" marL="457200" rtl="0" algn="l">
              <a:spcBef>
                <a:spcPts val="0"/>
              </a:spcBef>
              <a:spcAft>
                <a:spcPts val="0"/>
              </a:spcAft>
              <a:buSzPts val="1800"/>
              <a:buAutoNum type="arabicPeriod"/>
            </a:pPr>
            <a:r>
              <a:rPr lang="en"/>
              <a:t>IMPORTANT: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28 </a:t>
            </a:r>
            <a:endParaRPr/>
          </a:p>
        </p:txBody>
      </p:sp>
      <p:sp>
        <p:nvSpPr>
          <p:cNvPr id="375" name="Google Shape;375;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One more fix to scprint - i have to pick only significant pyscenic</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28 </a:t>
            </a:r>
            <a:endParaRPr/>
          </a:p>
        </p:txBody>
      </p:sp>
      <p:sp>
        <p:nvSpPr>
          <p:cNvPr id="381" name="Google Shape;381;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One more fix to scprint - i have to pick only significant pyscenic</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3 (June 2) - KNN</a:t>
            </a:r>
            <a:endParaRPr/>
          </a:p>
        </p:txBody>
      </p:sp>
      <p:sp>
        <p:nvSpPr>
          <p:cNvPr id="387" name="Google Shape;387;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Load embedddings </a:t>
            </a:r>
            <a:endParaRPr/>
          </a:p>
          <a:p>
            <a:pPr indent="-342900" lvl="0" marL="457200" rtl="0" algn="l">
              <a:spcBef>
                <a:spcPts val="0"/>
              </a:spcBef>
              <a:spcAft>
                <a:spcPts val="0"/>
              </a:spcAft>
              <a:buSzPts val="1800"/>
              <a:buAutoNum type="arabicPeriod"/>
            </a:pPr>
            <a:r>
              <a:rPr lang="en"/>
              <a:t>Read the dense response file</a:t>
            </a:r>
            <a:endParaRPr/>
          </a:p>
          <a:p>
            <a:pPr indent="-342900" lvl="0" marL="457200" rtl="0" algn="l">
              <a:spcBef>
                <a:spcPts val="0"/>
              </a:spcBef>
              <a:spcAft>
                <a:spcPts val="0"/>
              </a:spcAft>
              <a:buSzPts val="1800"/>
              <a:buAutoNum type="arabicPeriod"/>
            </a:pPr>
            <a:r>
              <a:rPr lang="en"/>
              <a:t>Build response matrix Y</a:t>
            </a:r>
            <a:endParaRPr/>
          </a:p>
          <a:p>
            <a:pPr indent="-342900" lvl="0" marL="457200" rtl="0" algn="l">
              <a:spcBef>
                <a:spcPts val="0"/>
              </a:spcBef>
              <a:spcAft>
                <a:spcPts val="0"/>
              </a:spcAft>
              <a:buSzPts val="1800"/>
              <a:buAutoNum type="arabicPeriod"/>
            </a:pPr>
            <a:r>
              <a:rPr lang="en"/>
              <a:t>Align embeddings to TFs</a:t>
            </a:r>
            <a:endParaRPr/>
          </a:p>
          <a:p>
            <a:pPr indent="-342900" lvl="0" marL="457200" rtl="0" algn="l">
              <a:spcBef>
                <a:spcPts val="0"/>
              </a:spcBef>
              <a:spcAft>
                <a:spcPts val="0"/>
              </a:spcAft>
              <a:buSzPts val="1800"/>
              <a:buAutoNum type="arabicPeriod"/>
            </a:pPr>
            <a:r>
              <a:rPr lang="en"/>
              <a:t>Cross validate the kNN</a:t>
            </a:r>
            <a:endParaRPr/>
          </a:p>
          <a:p>
            <a:pPr indent="-342900" lvl="0" marL="457200" rtl="0" algn="l">
              <a:spcBef>
                <a:spcPts val="0"/>
              </a:spcBef>
              <a:spcAft>
                <a:spcPts val="0"/>
              </a:spcAft>
              <a:buSzPts val="1800"/>
              <a:buAutoNum type="arabicPeriod"/>
            </a:pPr>
            <a:r>
              <a:rPr lang="en"/>
              <a:t>Run baselines on the same folds</a:t>
            </a:r>
            <a:endParaRPr/>
          </a:p>
          <a:p>
            <a:pPr indent="-342900" lvl="0" marL="457200" rtl="0" algn="l">
              <a:spcBef>
                <a:spcPts val="0"/>
              </a:spcBef>
              <a:spcAft>
                <a:spcPts val="0"/>
              </a:spcAft>
              <a:buSzPts val="1800"/>
              <a:buAutoNum type="arabicPeriod"/>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3 (June 2) - KNN [results]</a:t>
            </a:r>
            <a:endParaRPr/>
          </a:p>
        </p:txBody>
      </p:sp>
      <p:sp>
        <p:nvSpPr>
          <p:cNvPr id="393" name="Google Shape;393;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Clr>
                <a:schemeClr val="dk1"/>
              </a:buClr>
              <a:buSzPts val="1100"/>
              <a:buFont typeface="Arial"/>
              <a:buNone/>
            </a:pPr>
            <a:r>
              <a:t/>
            </a:r>
            <a:endParaRPr/>
          </a:p>
          <a:p>
            <a:pPr indent="0" lvl="0" marL="457200" rtl="0" algn="l">
              <a:spcBef>
                <a:spcPts val="1200"/>
              </a:spcBef>
              <a:spcAft>
                <a:spcPts val="0"/>
              </a:spcAft>
              <a:buClr>
                <a:schemeClr val="dk1"/>
              </a:buClr>
              <a:buSzPts val="1100"/>
              <a:buFont typeface="Arial"/>
              <a:buNone/>
            </a:pPr>
            <a:r>
              <a:rPr lang="en"/>
              <a:t>=== Rest ===  (reading large file...)</a:t>
            </a:r>
            <a:endParaRPr/>
          </a:p>
          <a:p>
            <a:pPr indent="0" lvl="0" marL="457200" rtl="0" algn="l">
              <a:spcBef>
                <a:spcPts val="1200"/>
              </a:spcBef>
              <a:spcAft>
                <a:spcPts val="0"/>
              </a:spcAft>
              <a:buClr>
                <a:schemeClr val="dk1"/>
              </a:buClr>
              <a:buSzPts val="1100"/>
              <a:buFont typeface="Arial"/>
              <a:buNone/>
            </a:pPr>
            <a:r>
              <a:rPr lang="en"/>
              <a:t>  560 TFs x 10282 genes (1 dropped, no embedding)</a:t>
            </a:r>
            <a:endParaRPr/>
          </a:p>
          <a:p>
            <a:pPr indent="0" lvl="0" marL="457200" rtl="0" algn="l">
              <a:spcBef>
                <a:spcPts val="1200"/>
              </a:spcBef>
              <a:spcAft>
                <a:spcPts val="0"/>
              </a:spcAft>
              <a:buClr>
                <a:schemeClr val="dk1"/>
              </a:buClr>
              <a:buSzPts val="1100"/>
              <a:buFont typeface="Arial"/>
              <a:buNone/>
            </a:pPr>
            <a:r>
              <a:rPr lang="en"/>
              <a:t>  best kNN (k=25): 0.118 | Train Mean: 0.168 | Random@k: 0.112 | beats baseline: NO</a:t>
            </a:r>
            <a:endParaRPr/>
          </a:p>
          <a:p>
            <a:pPr indent="0" lvl="0" marL="457200" rtl="0" algn="l">
              <a:spcBef>
                <a:spcPts val="1200"/>
              </a:spcBef>
              <a:spcAft>
                <a:spcPts val="0"/>
              </a:spcAft>
              <a:buClr>
                <a:schemeClr val="dk1"/>
              </a:buClr>
              <a:buSzPts val="1100"/>
              <a:buFont typeface="Arial"/>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3 (June 2) - KNN [results]</a:t>
            </a:r>
            <a:endParaRPr/>
          </a:p>
        </p:txBody>
      </p:sp>
      <p:sp>
        <p:nvSpPr>
          <p:cNvPr id="399" name="Google Shape;399;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Clr>
                <a:schemeClr val="dk1"/>
              </a:buClr>
              <a:buSzPts val="1100"/>
              <a:buFont typeface="Arial"/>
              <a:buNone/>
            </a:pPr>
            <a:r>
              <a:rPr lang="en"/>
              <a:t>=== Stim8hr ===  (reading large file...)</a:t>
            </a:r>
            <a:endParaRPr/>
          </a:p>
          <a:p>
            <a:pPr indent="0" lvl="0" marL="457200" rtl="0" algn="l">
              <a:spcBef>
                <a:spcPts val="1200"/>
              </a:spcBef>
              <a:spcAft>
                <a:spcPts val="0"/>
              </a:spcAft>
              <a:buClr>
                <a:schemeClr val="dk1"/>
              </a:buClr>
              <a:buSzPts val="1100"/>
              <a:buFont typeface="Arial"/>
              <a:buNone/>
            </a:pPr>
            <a:r>
              <a:rPr lang="en"/>
              <a:t>  595 TFs x 10282 genes (1 dropped, no embedding)</a:t>
            </a:r>
            <a:endParaRPr/>
          </a:p>
          <a:p>
            <a:pPr indent="0" lvl="0" marL="457200" rtl="0" algn="l">
              <a:spcBef>
                <a:spcPts val="1200"/>
              </a:spcBef>
              <a:spcAft>
                <a:spcPts val="0"/>
              </a:spcAft>
              <a:buClr>
                <a:schemeClr val="dk1"/>
              </a:buClr>
              <a:buSzPts val="1100"/>
              <a:buFont typeface="Arial"/>
              <a:buNone/>
            </a:pPr>
            <a:r>
              <a:rPr lang="en"/>
              <a:t>  best kNN (k=25): 0.137 | Train Mean: 0.189 | Random@k: 0.134 | beats baseline: NO</a:t>
            </a:r>
            <a:endParaRPr/>
          </a:p>
          <a:p>
            <a:pPr indent="0" lvl="0" marL="457200" rtl="0" algn="l">
              <a:spcBef>
                <a:spcPts val="1200"/>
              </a:spcBef>
              <a:spcAft>
                <a:spcPts val="12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3 (June 2) - KNN [results]</a:t>
            </a:r>
            <a:endParaRPr/>
          </a:p>
        </p:txBody>
      </p:sp>
      <p:sp>
        <p:nvSpPr>
          <p:cNvPr id="405" name="Google Shape;405;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Clr>
                <a:schemeClr val="dk1"/>
              </a:buClr>
              <a:buSzPts val="1100"/>
              <a:buFont typeface="Arial"/>
              <a:buNone/>
            </a:pPr>
            <a:r>
              <a:rPr lang="en"/>
              <a:t>=== Stim48hr ===  (reading large file...)</a:t>
            </a:r>
            <a:endParaRPr/>
          </a:p>
          <a:p>
            <a:pPr indent="0" lvl="0" marL="457200" rtl="0" algn="l">
              <a:spcBef>
                <a:spcPts val="1200"/>
              </a:spcBef>
              <a:spcAft>
                <a:spcPts val="0"/>
              </a:spcAft>
              <a:buClr>
                <a:schemeClr val="dk1"/>
              </a:buClr>
              <a:buSzPts val="1100"/>
              <a:buFont typeface="Arial"/>
              <a:buNone/>
            </a:pPr>
            <a:r>
              <a:rPr lang="en"/>
              <a:t>  575 TFs x 10282 genes (1 dropped, no embedding)</a:t>
            </a:r>
            <a:endParaRPr/>
          </a:p>
          <a:p>
            <a:pPr indent="0" lvl="0" marL="457200" rtl="0" algn="l">
              <a:spcBef>
                <a:spcPts val="1200"/>
              </a:spcBef>
              <a:spcAft>
                <a:spcPts val="0"/>
              </a:spcAft>
              <a:buClr>
                <a:schemeClr val="dk1"/>
              </a:buClr>
              <a:buSzPts val="1100"/>
              <a:buFont typeface="Arial"/>
              <a:buNone/>
            </a:pPr>
            <a:r>
              <a:rPr lang="en"/>
              <a:t>  best kNN (k=25): 0.109 | Train Mean: 0.160 | Random@k: 0.105 | beats baseline: NO</a:t>
            </a:r>
            <a:endParaRPr/>
          </a:p>
          <a:p>
            <a:pPr indent="0" lvl="0" marL="457200" rtl="0" algn="l">
              <a:spcBef>
                <a:spcPts val="120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3 (June 2) - KNN [results]</a:t>
            </a:r>
            <a:endParaRPr/>
          </a:p>
        </p:txBody>
      </p:sp>
      <p:sp>
        <p:nvSpPr>
          <p:cNvPr id="411" name="Google Shape;411;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